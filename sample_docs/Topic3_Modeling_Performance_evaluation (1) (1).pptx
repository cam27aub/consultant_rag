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7" r:id="rId2"/>
    <p:sldId id="309" r:id="rId3"/>
    <p:sldId id="310" r:id="rId4"/>
    <p:sldId id="311" r:id="rId5"/>
    <p:sldId id="322" r:id="rId6"/>
    <p:sldId id="313" r:id="rId7"/>
    <p:sldId id="317" r:id="rId8"/>
    <p:sldId id="318" r:id="rId9"/>
    <p:sldId id="319" r:id="rId10"/>
    <p:sldId id="320" r:id="rId11"/>
    <p:sldId id="321" r:id="rId12"/>
    <p:sldId id="258" r:id="rId13"/>
    <p:sldId id="260" r:id="rId14"/>
    <p:sldId id="263" r:id="rId15"/>
    <p:sldId id="265" r:id="rId16"/>
    <p:sldId id="269" r:id="rId17"/>
    <p:sldId id="270" r:id="rId18"/>
    <p:sldId id="325" r:id="rId19"/>
    <p:sldId id="307" r:id="rId20"/>
    <p:sldId id="287" r:id="rId21"/>
    <p:sldId id="288" r:id="rId22"/>
    <p:sldId id="295" r:id="rId23"/>
    <p:sldId id="327" r:id="rId24"/>
    <p:sldId id="298" r:id="rId25"/>
    <p:sldId id="324" r:id="rId2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501" autoAdjust="0"/>
  </p:normalViewPr>
  <p:slideViewPr>
    <p:cSldViewPr>
      <p:cViewPr varScale="1">
        <p:scale>
          <a:sx n="98" d="100"/>
          <a:sy n="98" d="100"/>
        </p:scale>
        <p:origin x="116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72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Stats\XLMinerHelp\CasebookMainFiles\TeX_files_1105\Images\CH2-XYPlots.xls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0.16122465045504888"/>
          <c:y val="6.6157925209539031E-2"/>
          <c:w val="0.777551795232578"/>
          <c:h val="0.75827160432471974"/>
        </c:manualLayout>
      </c:layout>
      <c:scatterChart>
        <c:scatterStyle val="smoothMarker"/>
        <c:varyColors val="0"/>
        <c:ser>
          <c:idx val="0"/>
          <c:order val="0"/>
          <c:spPr>
            <a:ln w="12700">
              <a:solidFill>
                <a:srgbClr val="000080"/>
              </a:solidFill>
              <a:prstDash val="solid"/>
            </a:ln>
          </c:spPr>
          <c:marker>
            <c:symbol val="diamond"/>
            <c:size val="5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xVal>
            <c:numRef>
              <c:f>Sheet1!$A$1:$A$7</c:f>
              <c:numCache>
                <c:formatCode>General</c:formatCode>
                <c:ptCount val="7"/>
                <c:pt idx="0">
                  <c:v>239</c:v>
                </c:pt>
                <c:pt idx="1">
                  <c:v>364</c:v>
                </c:pt>
                <c:pt idx="2">
                  <c:v>602</c:v>
                </c:pt>
                <c:pt idx="3">
                  <c:v>644</c:v>
                </c:pt>
                <c:pt idx="4">
                  <c:v>770</c:v>
                </c:pt>
                <c:pt idx="5">
                  <c:v>789</c:v>
                </c:pt>
                <c:pt idx="6">
                  <c:v>911</c:v>
                </c:pt>
              </c:numCache>
            </c:numRef>
          </c:xVal>
          <c:yVal>
            <c:numRef>
              <c:f>Sheet1!$B$1:$B$7</c:f>
              <c:numCache>
                <c:formatCode>General</c:formatCode>
                <c:ptCount val="7"/>
                <c:pt idx="0">
                  <c:v>514</c:v>
                </c:pt>
                <c:pt idx="1">
                  <c:v>789</c:v>
                </c:pt>
                <c:pt idx="2">
                  <c:v>550</c:v>
                </c:pt>
                <c:pt idx="3">
                  <c:v>1386</c:v>
                </c:pt>
                <c:pt idx="4">
                  <c:v>1394</c:v>
                </c:pt>
                <c:pt idx="5">
                  <c:v>1440</c:v>
                </c:pt>
                <c:pt idx="6">
                  <c:v>1354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03C-4C02-841C-B63C31311D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184000"/>
        <c:axId val="29186304"/>
      </c:scatterChart>
      <c:valAx>
        <c:axId val="29184000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Expenditure</a:t>
                </a:r>
              </a:p>
            </c:rich>
          </c:tx>
          <c:layout>
            <c:manualLayout>
              <c:xMode val="edge"/>
              <c:yMode val="edge"/>
              <c:x val="0.46734740448362211"/>
              <c:y val="0.90331013266870663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9186304"/>
        <c:crosses val="autoZero"/>
        <c:crossBetween val="midCat"/>
      </c:valAx>
      <c:valAx>
        <c:axId val="2918630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Revenue</a:t>
                </a:r>
              </a:p>
            </c:rich>
          </c:tx>
          <c:layout>
            <c:manualLayout>
              <c:xMode val="edge"/>
              <c:yMode val="edge"/>
              <c:x val="3.2653093763047945E-2"/>
              <c:y val="0.36895765982243039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9184000"/>
        <c:crosses val="autoZero"/>
        <c:crossBetween val="midCat"/>
      </c:valAx>
      <c:spPr>
        <a:solidFill>
          <a:srgbClr val="C0C0C0"/>
        </a:solidFill>
        <a:ln w="12700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F377D59-9EE5-4380-845F-3ECD9DC774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20126A-DAFE-4594-94A4-5AB1FD8A653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658A9A-A16D-4B86-912D-C16A28B76EA5}" type="datetimeFigureOut">
              <a:rPr lang="en-US"/>
              <a:pPr>
                <a:defRPr/>
              </a:pPr>
              <a:t>10/8/2023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56382E6-A3A2-4B47-8965-55FAC10595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0DE5396-D79E-4058-A5D6-E678EA716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7CB8F-4BD2-40FE-ADC2-B000DA91091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49085-FA6E-4781-81AC-D8C379E2D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E403638F-59C9-4946-8CFB-68E13480098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56561002-D3FD-4749-94EB-5ED2CDB0E8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D58D5C54-3CFD-42C0-A248-A31CD13240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F56CD78-0147-4B73-B13B-E2EC2C91A0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5879290-82BA-492A-89FE-CF8DAC4CDA22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52FBE780-0AED-4DE3-A62F-07D34E842B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7F9C862B-46FF-47DB-A205-E10FB42694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7C7F7B50-FAC8-4EEB-AA4B-8BF0D0701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F95116-6B09-4EEC-A148-1B288C8C1755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C3E3077C-3076-46A2-9EDB-8E96DA4840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69A97FC9-681F-46A3-9A36-BFC947F396B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5E33B26C-B3E8-4512-B94C-E5241DA2C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ABFA271-ECEA-4645-A31C-0729B961C440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349A1B19-1070-4E7C-8D00-5CD08FD867A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E950E29F-55E4-49C2-B646-D2069C7E24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E11D225B-2BE7-4564-A8E2-3A03DCEC44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B4806C1-54FA-477A-8E5C-05035E38B586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C3D630AC-010F-42E0-9442-554DC8C784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6C670EBF-3DC0-4838-B8EF-76EDA83A48D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48312820-3AAD-4A65-8486-8FA84F1B3D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80356C8-76CE-400B-82A6-A891659DE88C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0E673D68-EC59-4FF2-9D7F-83A6361BB2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DAB8EE7B-F1D4-47B5-9756-7788580B41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763BDA5C-72B6-4823-8802-F79E29C586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0F57ABD-C62B-492E-9D75-ED34E0C05BA3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6E23B423-EAD1-4D65-997A-DEEC3D6B5F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CD7803E1-6920-4648-AA0D-BA91C05FB5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ADC4D930-4AFD-433E-9AAF-0AE21BDC4AD9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CECCC90-9011-43B0-9E4B-B30D7B5311C2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A9D45C84-F1A2-471A-A2AB-07383E99A2A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7146AD72-B3D6-4081-BC9B-A06BF2CA20D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08702F4B-2B19-45E0-A07A-527AA5781CCA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A06C81E-32C3-4E29-82C5-9B6F382F0720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8179A2E2-6986-403B-A23E-C46385E261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B34AA272-9871-4504-A495-9A49C1E6E9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13A72644-0AE3-4543-94DF-D29EB57BE430}"/>
              </a:ext>
            </a:extLst>
          </p:cNvPr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1238C43-84B4-466E-A622-34AE56A6448C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9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4036A49D-07E0-46E3-9BFD-1BB7A13835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C934825E-F1AB-4DD5-BE39-D4381AA0F0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135D973E-C278-42EB-8B1D-3927B555DE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2EEAED7-0385-458F-9709-41DA263C6BF2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097451BC-F50B-4687-8D14-40C95E369B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E1B7DA27-B70A-4E22-9503-7B04B5FD409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0EBE60C9-81E4-49C9-9280-550DF1327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80E1FF2-F8A4-46A2-A731-825E056109D4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1FE1F527-4B10-47D6-AF8E-BEAA44290C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7C50086F-0E91-4E31-8E47-EF6FEE5D741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D6C176C3-B692-4F17-B92E-9F773D41C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7AC60CF-F5B8-4134-A0B6-F7A1F6B9EF5F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AC047C70-22E2-4F59-93E2-A9F94237B4D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DD8056D4-0AC4-44CB-9668-7821CDBA02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2066269E-0E43-4048-8FC6-0B016F37D5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333F58B-6F28-4FCD-B87B-AA85A73EE9E6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06E57604-7A0F-4544-84BD-E04B375776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ED664B59-1A2E-452B-BEB1-378C6D8F0D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F34C6905-E036-479A-AFBA-17D4AAFAA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14F3459-D33F-42F3-8FC6-631936E38DC5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13958D1B-9226-4B7F-ADC8-A5339BB5C62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320E8D99-C14E-4814-9057-8BD53F20B48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4030D31F-923B-48B6-9048-13E99DCD7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28640C0-D003-4318-93EA-93232DB3F6A9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84EDD04E-4D1E-41BA-9349-A653F7BB45E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313745B1-012B-44EB-9377-223CDD5917B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E7607021-2FA5-4F49-820A-6B2D04A59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F9BADF-44BD-4F13-B430-5E296D24D6D1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C9C7727A-904C-4427-AD8B-57041A0718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D408F434-5EEB-4376-B441-05326BD1CE7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7B46C7F6-3E54-4701-85F3-F1B65BE3F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AAC4AE7-2301-4A16-8804-30F85627A8BB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06E57604-7A0F-4544-84BD-E04B375776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ED664B59-1A2E-452B-BEB1-378C6D8F0D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F34C6905-E036-479A-AFBA-17D4AAFAA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14F3459-D33F-42F3-8FC6-631936E38DC5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39171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C829B27D-6250-433E-A1DF-8921725B74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9A8D59A1-A37D-449C-BEAC-EBB3EA70AF8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CFD64139-0DD6-41B6-AC1D-CD3FFEE00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6531B79-FC39-4778-988C-EF0D957E783C}" type="slidenum">
              <a:rPr lang="en-US" altLang="en-US" smtClean="0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62564AC9-A2D3-45BE-B92D-EAFC6104AF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5F33E43C-5D39-4C4E-BDCA-68C56A78BB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A1793B33-C2F6-48D6-898C-50B7F9F02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83CCE5C-37F0-4181-8353-D36829B3DEBA}" type="slidenum">
              <a:rPr lang="en-US" altLang="en-US" smtClean="0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9D44E53B-E4E4-4FF8-9A25-D8D055D3E9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63B1EBA5-940E-45D7-BF7E-6542781B5E9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1068149C-A59F-4B62-8758-9E023BE4C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ECE74C-F1A1-40B1-9663-B15F23151C47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62564AC9-A2D3-45BE-B92D-EAFC6104AF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5F33E43C-5D39-4C4E-BDCA-68C56A78BB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A1793B33-C2F6-48D6-898C-50B7F9F02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83CCE5C-37F0-4181-8353-D36829B3DEBA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39662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>
            <a:extLst>
              <a:ext uri="{FF2B5EF4-FFF2-40B4-BE49-F238E27FC236}">
                <a16:creationId xmlns:a16="http://schemas.microsoft.com/office/drawing/2014/main" id="{684090CF-0FDA-42C8-9505-1651E231A1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>
            <a:extLst>
              <a:ext uri="{FF2B5EF4-FFF2-40B4-BE49-F238E27FC236}">
                <a16:creationId xmlns:a16="http://schemas.microsoft.com/office/drawing/2014/main" id="{22968216-FFE6-4AF3-9EDA-689944A3C0C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7BA135F9-FD70-4435-8195-A365A2AB5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9089F21-2940-47B7-B864-72C0D39E53AB}" type="slidenum">
              <a:rPr lang="en-US" altLang="en-US" smtClean="0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1379B351-C05A-41B2-BDEF-23949EF4015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12">
            <a:extLst>
              <a:ext uri="{FF2B5EF4-FFF2-40B4-BE49-F238E27FC236}">
                <a16:creationId xmlns:a16="http://schemas.microsoft.com/office/drawing/2014/main" id="{FA60300B-1C0C-4720-809F-3F5EBE768C4E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E1599B-831E-4DC8-A4D8-FFE3B31AFD0B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AB0F20C9-1696-4D9D-AB11-4B6BCA43ABF0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65855180-1896-48B8-B096-041F3BFB15FD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27">
            <a:extLst>
              <a:ext uri="{FF2B5EF4-FFF2-40B4-BE49-F238E27FC236}">
                <a16:creationId xmlns:a16="http://schemas.microsoft.com/office/drawing/2014/main" id="{682FD375-AC1D-41DD-B916-A98929854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DB0DD8-07CB-428A-AEC7-C1D7543CB762}" type="datetimeFigureOut">
              <a:rPr lang="en-US"/>
              <a:pPr>
                <a:defRPr/>
              </a:pPr>
              <a:t>10/8/2023</a:t>
            </a:fld>
            <a:endParaRPr lang="en-US"/>
          </a:p>
        </p:txBody>
      </p:sp>
      <p:sp>
        <p:nvSpPr>
          <p:cNvPr id="12" name="Footer Placeholder 16">
            <a:extLst>
              <a:ext uri="{FF2B5EF4-FFF2-40B4-BE49-F238E27FC236}">
                <a16:creationId xmlns:a16="http://schemas.microsoft.com/office/drawing/2014/main" id="{F2542270-0AF5-489B-940F-9DCECED23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8">
            <a:extLst>
              <a:ext uri="{FF2B5EF4-FFF2-40B4-BE49-F238E27FC236}">
                <a16:creationId xmlns:a16="http://schemas.microsoft.com/office/drawing/2014/main" id="{632F136D-AD69-4FB7-8D40-07CFC5873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5CED3A-EAF3-42E5-8137-3E94C2112F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14828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A68E002-CC2B-4344-9E4D-59E09DDDE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307E5F-09D9-41CA-A885-3BD8A4D99D2C}" type="datetimeFigureOut">
              <a:rPr lang="en-US"/>
              <a:pPr>
                <a:defRPr/>
              </a:pPr>
              <a:t>10/8/2023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36527A5-A4DF-4608-8786-286401F39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BB4E1802-3294-428D-8278-E8D9AD095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CAEAEA-876F-4C14-8CA7-C2721AB84E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662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41BC2538-8FC3-4805-9694-9452D053157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9">
            <a:extLst>
              <a:ext uri="{FF2B5EF4-FFF2-40B4-BE49-F238E27FC236}">
                <a16:creationId xmlns:a16="http://schemas.microsoft.com/office/drawing/2014/main" id="{AA38EAC1-1C5D-4E71-8F63-DAA0C0323097}"/>
              </a:ext>
            </a:extLst>
          </p:cNvPr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51A3C8D-A25E-4EF8-B546-FA13624EEBCF}"/>
              </a:ext>
            </a:extLst>
          </p:cNvPr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B9362F0-11A3-4772-8E81-056FF1B7895C}"/>
              </a:ext>
            </a:extLst>
          </p:cNvPr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F92BD414-18B5-48DD-99A3-4864F71CE6AD}"/>
              </a:ext>
            </a:extLst>
          </p:cNvPr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55E37393-3562-411E-A660-403DBE3BF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8B930C-9568-4CF5-AC50-A5F637BF6D47}" type="datetimeFigureOut">
              <a:rPr lang="en-US"/>
              <a:pPr>
                <a:defRPr/>
              </a:pPr>
              <a:t>10/8/2023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65C9583C-08B8-4E08-B8D1-BBC54B5D1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732783F-0667-4EF1-B58B-861110CB8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8198D5-5624-4178-934E-42089850AA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26001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3E29581A-6261-4962-A7A9-0758220EE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5E94F8-A617-44B0-99A1-1406F4555B85}" type="datetimeFigureOut">
              <a:rPr lang="en-US"/>
              <a:pPr>
                <a:defRPr/>
              </a:pPr>
              <a:t>10/8/2023</a:t>
            </a:fld>
            <a:endParaRPr 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804E722-009B-4669-8436-D15BCB84A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E0C106B4-FCC1-4E30-B6DB-69BB40D64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DE2DFE-C473-4800-BB09-3B021FDF9A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1647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>
            <a:extLst>
              <a:ext uri="{FF2B5EF4-FFF2-40B4-BE49-F238E27FC236}">
                <a16:creationId xmlns:a16="http://schemas.microsoft.com/office/drawing/2014/main" id="{0CA5723B-0A0D-4F58-939D-6A0061BCB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16296C-D0CA-40CF-889D-FEE7EAC09C29}" type="datetimeFigureOut">
              <a:rPr lang="en-US"/>
              <a:pPr>
                <a:defRPr/>
              </a:pPr>
              <a:t>10/8/2023</a:t>
            </a:fld>
            <a:endParaRPr lang="en-US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31AB5C9-F8E8-4A54-A4EF-80C0922B8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>
            <a:extLst>
              <a:ext uri="{FF2B5EF4-FFF2-40B4-BE49-F238E27FC236}">
                <a16:creationId xmlns:a16="http://schemas.microsoft.com/office/drawing/2014/main" id="{3C892AA2-A1A1-4B8B-92BF-D76772E78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70787-A34F-4752-BF22-9AD281A997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6931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1292912A-AF6B-45C7-B872-6D217E147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ECC04E-159D-4959-95B0-4CB81D1AF3DC}" type="datetimeFigureOut">
              <a:rPr lang="en-US"/>
              <a:pPr>
                <a:defRPr/>
              </a:pPr>
              <a:t>10/8/2023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0BA6B22-9442-4A47-8482-FA54F18F9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1B0E6328-38B5-4B00-804F-9F39F2DE7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3AD73B-84CC-46C0-A10A-567088C6FA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6975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>
            <a:extLst>
              <a:ext uri="{FF2B5EF4-FFF2-40B4-BE49-F238E27FC236}">
                <a16:creationId xmlns:a16="http://schemas.microsoft.com/office/drawing/2014/main" id="{975282D3-16A4-429B-BD29-F38D0863A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B60522-A75F-4078-996F-2C311ECF0F94}" type="datetimeFigureOut">
              <a:rPr lang="en-US"/>
              <a:pPr>
                <a:defRPr/>
              </a:pPr>
              <a:t>10/8/2023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B72374-2CFB-4D97-94E1-E02C56A0A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A5C591F6-3896-44A3-8BEF-2C7339A1B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13D61A-87CF-4FDC-B811-16AFE19C3A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5110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65DC301-E13B-44BF-B804-94BDC5932EB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6" name="Rounded Rectangle 8">
            <a:extLst>
              <a:ext uri="{FF2B5EF4-FFF2-40B4-BE49-F238E27FC236}">
                <a16:creationId xmlns:a16="http://schemas.microsoft.com/office/drawing/2014/main" id="{7BC09E94-03D8-4FC4-819B-6BB973AAFA57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500870D5-D31C-4317-BD35-BA7CD5942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131C25-AFA7-497B-939D-68A3A23EAFCA}" type="datetimeFigureOut">
              <a:rPr lang="en-US"/>
              <a:pPr>
                <a:defRPr/>
              </a:pPr>
              <a:t>10/8/2023</a:t>
            </a:fld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FC51E8E4-147B-45CB-86D2-14F8DA8F6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05F3A1B3-DEE4-49EB-AE14-119196DDC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FE2F23-8F59-4CC7-BBD6-95283D88E6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3805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>
            <a:extLst>
              <a:ext uri="{FF2B5EF4-FFF2-40B4-BE49-F238E27FC236}">
                <a16:creationId xmlns:a16="http://schemas.microsoft.com/office/drawing/2014/main" id="{89AC32B6-C069-40D8-B928-7AEA1BB4C651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D83A34AA-120E-4285-962C-2392565E89AF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C639EFB3-FA24-4BA1-8DE1-1234C9720D2F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FDDC83E6-EAE8-42AE-9645-98FC023E3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6BDE1F-1B20-4373-A3AE-030173E171B2}" type="datetimeFigureOut">
              <a:rPr lang="en-US"/>
              <a:pPr>
                <a:defRPr/>
              </a:pPr>
              <a:t>10/8/2023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74771A52-8EB2-47FA-9C2D-5AE0A68C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3544A21B-3E29-4EAF-AE6A-71F02D9AA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B761D9-CA7F-45B9-9FF4-ECD82E8592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3357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044F9EBD-E14F-4E5E-9B2D-8915F6F76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201918-725D-4ABD-802D-3255D9F78106}" type="datetimeFigureOut">
              <a:rPr lang="en-US"/>
              <a:pPr>
                <a:defRPr/>
              </a:pPr>
              <a:t>10/8/2023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F50C27AF-7C65-4677-A313-E5099C778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2CB7F505-C31A-4F3C-B785-7D9889086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DB530-246C-4A94-92D4-CF7E9B5F2C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4156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781CF4A7-F1A0-49B0-B1FB-06E5B3B68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BDB599-C59C-454A-8718-1F1574C3FBE0}" type="datetimeFigureOut">
              <a:rPr lang="en-US"/>
              <a:pPr>
                <a:defRPr/>
              </a:pPr>
              <a:t>10/8/2023</a:t>
            </a:fld>
            <a:endParaRPr 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F3AD1C8-27C5-424F-887F-339B0C921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5B5A704B-3EA9-4363-8755-1122C563A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CEE509-840D-43D2-9159-C3EA3E3737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5845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A480B5C-A041-4F21-AAFA-14EEE480CBD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>
            <a:extLst>
              <a:ext uri="{FF2B5EF4-FFF2-40B4-BE49-F238E27FC236}">
                <a16:creationId xmlns:a16="http://schemas.microsoft.com/office/drawing/2014/main" id="{F95F9B51-AFD3-49C9-A2FB-03439E28A641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28" name="Title Placeholder 21">
            <a:extLst>
              <a:ext uri="{FF2B5EF4-FFF2-40B4-BE49-F238E27FC236}">
                <a16:creationId xmlns:a16="http://schemas.microsoft.com/office/drawing/2014/main" id="{32D5B1FA-AD77-4D86-BA82-A5EB7F10FC0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Text Placeholder 12">
            <a:extLst>
              <a:ext uri="{FF2B5EF4-FFF2-40B4-BE49-F238E27FC236}">
                <a16:creationId xmlns:a16="http://schemas.microsoft.com/office/drawing/2014/main" id="{08338372-39A3-49FA-BFAC-32E16A46965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57D846DD-0B22-4AB8-BA75-3D06F2A5F3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568AFF1-EC80-4FBB-B103-0AD7E2B04EAB}" type="datetimeFigureOut">
              <a:rPr lang="en-US"/>
              <a:pPr>
                <a:defRPr/>
              </a:pPr>
              <a:t>10/8/2023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2F06AF-4C84-4272-B094-260963F57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67A47B7C-B0D3-4F67-A217-357176B17D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pPr>
              <a:defRPr/>
            </a:pPr>
            <a:fld id="{380932B1-EA9A-4630-BA10-FEE7C87121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75" r:id="rId2"/>
    <p:sldLayoutId id="2147483883" r:id="rId3"/>
    <p:sldLayoutId id="2147483876" r:id="rId4"/>
    <p:sldLayoutId id="2147483877" r:id="rId5"/>
    <p:sldLayoutId id="2147483878" r:id="rId6"/>
    <p:sldLayoutId id="2147483879" r:id="rId7"/>
    <p:sldLayoutId id="2147483884" r:id="rId8"/>
    <p:sldLayoutId id="2147483885" r:id="rId9"/>
    <p:sldLayoutId id="2147483880" r:id="rId10"/>
    <p:sldLayoutId id="214748388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Franklin Gothic Book" pitchFamily="34" charset="0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Franklin Gothic Book" pitchFamily="34" charset="0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Franklin Gothic Book" pitchFamily="34" charset="0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Franklin Gothic Book" pitchFamily="34" charset="0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Franklin Gothic Book" pitchFamily="34" charset="0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3">
            <a:extLst>
              <a:ext uri="{FF2B5EF4-FFF2-40B4-BE49-F238E27FC236}">
                <a16:creationId xmlns:a16="http://schemas.microsoft.com/office/drawing/2014/main" id="{23FF8B64-BCC1-4135-ACDB-7CF4457C1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47800"/>
            <a:ext cx="7772400" cy="11430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Modeling and Performance Evaluation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64"/>
    </mc:Choice>
    <mc:Fallback xmlns="">
      <p:transition spd="slow" advTm="2506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AF5489A9-282A-46B8-87A3-AE06BB39D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Supervised Learning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128F822D-784C-4558-8900-DE166C749DD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sz="quarter" idx="1"/>
          </p:nvPr>
        </p:nvSpPr>
        <p:spPr>
          <a:xfrm>
            <a:off x="838200" y="1828800"/>
            <a:ext cx="7772400" cy="4572000"/>
          </a:xfrm>
          <a:blipFill>
            <a:blip r:embed="rId3"/>
            <a:stretch>
              <a:fillRect l="-784" t="-1067" r="-1098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586"/>
    </mc:Choice>
    <mc:Fallback xmlns="">
      <p:transition spd="slow" advTm="5158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59A604A9-6155-479B-B443-33363F298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Supervised: Classification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A5BE7500-C4DC-4452-BEA5-F14384CED76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7772400" cy="4038600"/>
          </a:xfrm>
        </p:spPr>
        <p:txBody>
          <a:bodyPr/>
          <a:lstStyle/>
          <a:p>
            <a:pPr eaLnBrk="1" hangingPunct="1"/>
            <a:r>
              <a:rPr lang="en-US" altLang="en-US"/>
              <a:t>Goal: Predict categorical target (outcome) variable </a:t>
            </a:r>
          </a:p>
          <a:p>
            <a:pPr eaLnBrk="1" hangingPunct="1"/>
            <a:r>
              <a:rPr lang="en-US" altLang="en-US"/>
              <a:t>Examples: Purchase/no purchase, fraud/no fraud, creditworthy/not creditworthy…</a:t>
            </a:r>
          </a:p>
          <a:p>
            <a:pPr eaLnBrk="1" hangingPunct="1"/>
            <a:r>
              <a:rPr lang="en-US" altLang="en-US"/>
              <a:t>Each row is a case (customer, tax return, applicant)</a:t>
            </a:r>
          </a:p>
          <a:p>
            <a:pPr eaLnBrk="1" hangingPunct="1"/>
            <a:r>
              <a:rPr lang="en-US" altLang="en-US"/>
              <a:t>Each column is a variable</a:t>
            </a:r>
          </a:p>
          <a:p>
            <a:pPr eaLnBrk="1" hangingPunct="1"/>
            <a:r>
              <a:rPr lang="en-US" altLang="en-US"/>
              <a:t>Target variable is often binary (yes/no)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6130"/>
    </mc:Choice>
    <mc:Fallback xmlns="">
      <p:transition spd="slow" advTm="15613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77DB7AD7-8D58-4817-83F6-EC673083D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Supervised: Prediction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12099A1B-1158-4757-9898-2CABD77D49A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676400"/>
            <a:ext cx="7772400" cy="4572000"/>
          </a:xfrm>
        </p:spPr>
        <p:txBody>
          <a:bodyPr/>
          <a:lstStyle/>
          <a:p>
            <a:pPr eaLnBrk="1" hangingPunct="1"/>
            <a:r>
              <a:rPr lang="en-US" altLang="en-US"/>
              <a:t>Goal: Predict numerical target (outcome) variable </a:t>
            </a:r>
          </a:p>
          <a:p>
            <a:pPr eaLnBrk="1" hangingPunct="1"/>
            <a:r>
              <a:rPr lang="en-US" altLang="en-US"/>
              <a:t>Examples: sales, revenue, performance</a:t>
            </a:r>
          </a:p>
          <a:p>
            <a:pPr eaLnBrk="1" hangingPunct="1"/>
            <a:r>
              <a:rPr lang="en-US" altLang="en-US"/>
              <a:t>As in classification:</a:t>
            </a:r>
          </a:p>
          <a:p>
            <a:pPr eaLnBrk="1" hangingPunct="1"/>
            <a:r>
              <a:rPr lang="en-US" altLang="en-US"/>
              <a:t>Each row is a case (customer, tax return, applicant)</a:t>
            </a:r>
          </a:p>
          <a:p>
            <a:pPr eaLnBrk="1" hangingPunct="1"/>
            <a:r>
              <a:rPr lang="en-US" altLang="en-US"/>
              <a:t>Each column is a variable</a:t>
            </a:r>
          </a:p>
          <a:p>
            <a:pPr eaLnBrk="1" hangingPunct="1"/>
            <a:r>
              <a:rPr lang="en-US" altLang="en-US"/>
              <a:t>Taken together, classification and prediction constitute “predictive analytics”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889"/>
    </mc:Choice>
    <mc:Fallback xmlns="">
      <p:transition spd="slow" advTm="4688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59500460-6CFD-4589-862E-02203FDAC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Steps in Data Mining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3D418539-72CE-450E-AA67-6F384B73719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828800" y="2114550"/>
            <a:ext cx="5829300" cy="3257550"/>
          </a:xfrm>
        </p:spPr>
        <p:txBody>
          <a:bodyPr>
            <a:normAutofit fontScale="77500" lnSpcReduction="20000"/>
          </a:bodyPr>
          <a:lstStyle/>
          <a:p>
            <a:pPr marL="385763" indent="-385763">
              <a:buFont typeface="Franklin Gothic Book" panose="020B0503020102020204" pitchFamily="34" charset="0"/>
              <a:buAutoNum type="arabicPeriod"/>
              <a:defRPr/>
            </a:pPr>
            <a:r>
              <a:rPr lang="en-US" altLang="en-US"/>
              <a:t>Define/understand purpose</a:t>
            </a:r>
          </a:p>
          <a:p>
            <a:pPr marL="385763" indent="-385763">
              <a:buFont typeface="Franklin Gothic Book" panose="020B0503020102020204" pitchFamily="34" charset="0"/>
              <a:buAutoNum type="arabicPeriod"/>
              <a:defRPr/>
            </a:pPr>
            <a:r>
              <a:rPr lang="en-US" altLang="en-US"/>
              <a:t>Obtain data (may involve random sampling)</a:t>
            </a:r>
          </a:p>
          <a:p>
            <a:pPr marL="385763" indent="-385763">
              <a:buFont typeface="Franklin Gothic Book" panose="020B0503020102020204" pitchFamily="34" charset="0"/>
              <a:buAutoNum type="arabicPeriod"/>
              <a:defRPr/>
            </a:pPr>
            <a:r>
              <a:rPr lang="en-US" altLang="en-US"/>
              <a:t>Explore, clean, pre-process data</a:t>
            </a:r>
          </a:p>
          <a:p>
            <a:pPr marL="385763" indent="-385763">
              <a:buFont typeface="Franklin Gothic Book" panose="020B0503020102020204" pitchFamily="34" charset="0"/>
              <a:buAutoNum type="arabicPeriod"/>
              <a:defRPr/>
            </a:pPr>
            <a:r>
              <a:rPr lang="en-US" altLang="en-US"/>
              <a:t>Reduce the data; if supervised DM, partition it</a:t>
            </a:r>
          </a:p>
          <a:p>
            <a:pPr marL="385763" indent="-385763">
              <a:buFont typeface="Franklin Gothic Book" panose="020B0503020102020204" pitchFamily="34" charset="0"/>
              <a:buAutoNum type="arabicPeriod"/>
              <a:defRPr/>
            </a:pPr>
            <a:r>
              <a:rPr lang="en-US" altLang="en-US"/>
              <a:t>Specify task (classification, clustering, etc.)</a:t>
            </a:r>
          </a:p>
          <a:p>
            <a:pPr marL="385763" indent="-385763">
              <a:buFont typeface="Franklin Gothic Book" panose="020B0503020102020204" pitchFamily="34" charset="0"/>
              <a:buAutoNum type="arabicPeriod"/>
              <a:defRPr/>
            </a:pPr>
            <a:r>
              <a:rPr lang="en-US" altLang="en-US"/>
              <a:t>Choose the techniques (regression, CART, neural networks, etc.)</a:t>
            </a:r>
          </a:p>
          <a:p>
            <a:pPr marL="385763" indent="-385763">
              <a:buFont typeface="Franklin Gothic Book" panose="020B0503020102020204" pitchFamily="34" charset="0"/>
              <a:buAutoNum type="arabicPeriod"/>
              <a:defRPr/>
            </a:pPr>
            <a:r>
              <a:rPr lang="en-US" altLang="en-US"/>
              <a:t>Iterative implementation and “tuning” </a:t>
            </a:r>
          </a:p>
          <a:p>
            <a:pPr marL="385763" indent="-385763">
              <a:buFont typeface="Franklin Gothic Book" panose="020B0503020102020204" pitchFamily="34" charset="0"/>
              <a:buAutoNum type="arabicPeriod"/>
              <a:defRPr/>
            </a:pPr>
            <a:r>
              <a:rPr lang="en-US" altLang="en-US"/>
              <a:t>Assess results – compare models</a:t>
            </a:r>
          </a:p>
          <a:p>
            <a:pPr marL="385763" indent="-385763">
              <a:buFont typeface="Franklin Gothic Book" panose="020B0503020102020204" pitchFamily="34" charset="0"/>
              <a:buAutoNum type="arabicPeriod"/>
              <a:defRPr/>
            </a:pPr>
            <a:r>
              <a:rPr lang="en-US" altLang="en-US"/>
              <a:t>Deploy best model</a:t>
            </a:r>
          </a:p>
          <a:p>
            <a:pPr marL="385763" indent="-385763">
              <a:buFont typeface="Franklin Gothic Book" panose="020B0503020102020204" pitchFamily="34" charset="0"/>
              <a:buAutoNum type="arabicPeriod"/>
              <a:defRPr/>
            </a:pP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136"/>
    </mc:Choice>
    <mc:Fallback xmlns="">
      <p:transition spd="slow" advTm="11313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07C04F32-0581-40E7-B023-FF99AC824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Pre-processing Data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EAF1F7D9-BAAD-4CCF-ACD1-A6099238C54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752600"/>
            <a:ext cx="7772400" cy="2895600"/>
          </a:xfrm>
        </p:spPr>
        <p:txBody>
          <a:bodyPr/>
          <a:lstStyle/>
          <a:p>
            <a:pPr eaLnBrk="1" hangingPunct="1"/>
            <a:r>
              <a:rPr lang="en-US" altLang="en-US" sz="2800"/>
              <a:t>Identify the types of variables(Categorical vs. numeric)</a:t>
            </a:r>
          </a:p>
          <a:p>
            <a:pPr eaLnBrk="1" hangingPunct="1"/>
            <a:r>
              <a:rPr lang="en-US" altLang="en-US" sz="2800"/>
              <a:t>Detect outliers</a:t>
            </a:r>
          </a:p>
          <a:p>
            <a:pPr eaLnBrk="1" hangingPunct="1"/>
            <a:r>
              <a:rPr lang="en-US" altLang="en-US" sz="2800"/>
              <a:t>Handle missing values</a:t>
            </a:r>
          </a:p>
          <a:p>
            <a:pPr eaLnBrk="1" hangingPunct="1"/>
            <a:r>
              <a:rPr lang="en-US" altLang="en-US" sz="2800"/>
              <a:t> Determine suitable algorithms for analyzing the data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312"/>
    </mc:Choice>
    <mc:Fallback xmlns="">
      <p:transition spd="slow" advTm="59312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6B31631B-749B-4C4B-814C-3B3E4BE549CA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The Problem of Overfitting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CB7757E1-6239-4AC3-9A88-F5DD9CA60365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914400" y="1828800"/>
            <a:ext cx="7772400" cy="4191000"/>
          </a:xfrm>
        </p:spPr>
        <p:txBody>
          <a:bodyPr/>
          <a:lstStyle/>
          <a:p>
            <a:pPr eaLnBrk="1" hangingPunct="1"/>
            <a:r>
              <a:rPr lang="en-US" altLang="en-US"/>
              <a:t>Statistical models can produce highly complex explanations of relationships between variables</a:t>
            </a:r>
          </a:p>
          <a:p>
            <a:pPr eaLnBrk="1" hangingPunct="1"/>
            <a:r>
              <a:rPr lang="en-US" altLang="en-US"/>
              <a:t>The “fit” may be excellent</a:t>
            </a:r>
          </a:p>
          <a:p>
            <a:pPr eaLnBrk="1" hangingPunct="1"/>
            <a:r>
              <a:rPr lang="en-US" altLang="en-US"/>
              <a:t>When used with </a:t>
            </a:r>
            <a:r>
              <a:rPr lang="en-US" altLang="en-US" u="sng"/>
              <a:t>new</a:t>
            </a:r>
            <a:r>
              <a:rPr lang="en-US" altLang="en-US"/>
              <a:t> data, models of great complexity do not do so well.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386"/>
    </mc:Choice>
    <mc:Fallback xmlns="">
      <p:transition spd="slow" advTm="2738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6EEA1825-0BAB-4C6A-868D-49AC252C5BAC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100% fit – not useful for </a:t>
            </a:r>
            <a:r>
              <a:rPr lang="en-US" altLang="en-US" u="sng"/>
              <a:t>new</a:t>
            </a:r>
            <a:r>
              <a:rPr lang="en-US" altLang="en-US"/>
              <a:t> data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5C736F-E060-46A2-9FC7-31613342FFDF}"/>
              </a:ext>
            </a:extLst>
          </p:cNvPr>
          <p:cNvGraphicFramePr>
            <a:graphicFrameLocks noGrp="1"/>
          </p:cNvGraphicFramePr>
          <p:nvPr>
            <p:ph sz="quarter" idx="4294967295"/>
          </p:nvPr>
        </p:nvGraphicFramePr>
        <p:xfrm>
          <a:off x="914400" y="1447800"/>
          <a:ext cx="7772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504"/>
    </mc:Choice>
    <mc:Fallback xmlns="">
      <p:transition spd="slow" advTm="4550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9724A518-F27D-4FFD-B7E5-ADE02152D63C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Overfitting (cont.)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1D433E75-9509-4A43-A4A9-C79E7DAB98DA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914400" y="1828800"/>
            <a:ext cx="7772400" cy="4191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  <a:defRPr/>
            </a:pPr>
            <a:r>
              <a:rPr lang="en-US" dirty="0"/>
              <a:t>Causes:</a:t>
            </a:r>
          </a:p>
          <a:p>
            <a:pPr marL="742950" lvl="1" indent="-285750" eaLnBrk="1" hangingPunct="1">
              <a:defRPr/>
            </a:pPr>
            <a:r>
              <a:rPr lang="en-US" sz="2200" dirty="0"/>
              <a:t>Too many predictors</a:t>
            </a:r>
          </a:p>
          <a:p>
            <a:pPr marL="742950" lvl="1" indent="-285750" eaLnBrk="1" hangingPunct="1">
              <a:defRPr/>
            </a:pPr>
            <a:r>
              <a:rPr lang="en-US" sz="2200" dirty="0"/>
              <a:t>A model with too many parameters </a:t>
            </a:r>
          </a:p>
          <a:p>
            <a:pPr marL="742950" lvl="1" indent="-285750" eaLnBrk="1" hangingPunct="1">
              <a:defRPr/>
            </a:pPr>
            <a:r>
              <a:rPr lang="en-US" sz="2200" dirty="0"/>
              <a:t>Trying many different models</a:t>
            </a:r>
          </a:p>
          <a:p>
            <a:pPr eaLnBrk="1" hangingPunct="1">
              <a:defRPr/>
            </a:pPr>
            <a:endParaRPr lang="en-US" dirty="0"/>
          </a:p>
          <a:p>
            <a:pPr marL="0" indent="0" eaLnBrk="1" hangingPunct="1">
              <a:buFont typeface="Wingdings 2" panose="05020102010507070707" pitchFamily="18" charset="2"/>
              <a:buNone/>
              <a:defRPr/>
            </a:pPr>
            <a:r>
              <a:rPr lang="en-US" dirty="0"/>
              <a:t>Consequence:  Deployed model will not work as well as expected with completely new data.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530"/>
    </mc:Choice>
    <mc:Fallback xmlns="">
      <p:transition spd="slow" advTm="4353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8BE6B9EB-12E5-4712-ADD7-84DAB02C1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Partitioning the Data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DB6690AF-1664-469A-A8A2-5747568A22E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155700"/>
            <a:ext cx="5638800" cy="40386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200"/>
              <a:t>Problem: How well will our model perform with new data?</a:t>
            </a:r>
          </a:p>
          <a:p>
            <a:pPr eaLnBrk="1" hangingPunct="1"/>
            <a:endParaRPr lang="en-US" altLang="en-US" sz="220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200"/>
              <a:t>Solution:  Separate data into two parts </a:t>
            </a:r>
          </a:p>
          <a:p>
            <a:pPr lvl="1" eaLnBrk="1" hangingPunct="1"/>
            <a:r>
              <a:rPr lang="en-US" altLang="en-US" sz="2200" u="sng"/>
              <a:t>Training</a:t>
            </a:r>
            <a:r>
              <a:rPr lang="en-US" altLang="en-US" sz="2200"/>
              <a:t> partition to develop the model</a:t>
            </a:r>
          </a:p>
          <a:p>
            <a:pPr lvl="1" eaLnBrk="1" hangingPunct="1"/>
            <a:r>
              <a:rPr lang="en-US" altLang="en-US" sz="2200" u="sng"/>
              <a:t>Validation</a:t>
            </a:r>
            <a:r>
              <a:rPr lang="en-US" altLang="en-US" sz="2200"/>
              <a:t> partition to implement the model and evaluate its performance on “new” data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i="1"/>
              <a:t>Example: after loading the data “airquality”, we randomly  split it into 70% for training and 30% for validation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100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data(airquality)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split=sample(1:2, nrow(airquality), replace = TRUE, prob=c(0.7, 0.3))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train=airquality[split==1, ]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40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val=airquality[split==2, ]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/>
          </a:p>
        </p:txBody>
      </p:sp>
      <p:pic>
        <p:nvPicPr>
          <p:cNvPr id="25604" name="Picture 5">
            <a:extLst>
              <a:ext uri="{FF2B5EF4-FFF2-40B4-BE49-F238E27FC236}">
                <a16:creationId xmlns:a16="http://schemas.microsoft.com/office/drawing/2014/main" id="{E9E84D8E-AC9B-4F36-BC8E-13973F45A3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813" y="1600200"/>
            <a:ext cx="2619375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843"/>
    </mc:Choice>
    <mc:Fallback xmlns="">
      <p:transition spd="slow" advTm="9184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5">
            <a:extLst>
              <a:ext uri="{FF2B5EF4-FFF2-40B4-BE49-F238E27FC236}">
                <a16:creationId xmlns:a16="http://schemas.microsoft.com/office/drawing/2014/main" id="{D66A8792-D01F-4EBF-BB6C-76007F3B87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1650" y="1447800"/>
            <a:ext cx="221615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1" name="Title 1">
            <a:extLst>
              <a:ext uri="{FF2B5EF4-FFF2-40B4-BE49-F238E27FC236}">
                <a16:creationId xmlns:a16="http://schemas.microsoft.com/office/drawing/2014/main" id="{683FAC5F-59CA-46EC-9E5C-22202265C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Test Partition	</a:t>
            </a:r>
          </a:p>
        </p:txBody>
      </p:sp>
      <p:sp>
        <p:nvSpPr>
          <p:cNvPr id="27652" name="Content Placeholder 2">
            <a:extLst>
              <a:ext uri="{FF2B5EF4-FFF2-40B4-BE49-F238E27FC236}">
                <a16:creationId xmlns:a16="http://schemas.microsoft.com/office/drawing/2014/main" id="{B0FFA837-9E8D-4C12-9764-B38F4CE14DE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5800" y="1447800"/>
            <a:ext cx="6248400" cy="5257800"/>
          </a:xfrm>
        </p:spPr>
        <p:txBody>
          <a:bodyPr/>
          <a:lstStyle/>
          <a:p>
            <a:pPr eaLnBrk="1" hangingPunct="1"/>
            <a:r>
              <a:rPr lang="en-US" altLang="en-US"/>
              <a:t>When a model is developed on </a:t>
            </a:r>
            <a:r>
              <a:rPr lang="en-US" altLang="en-US" b="1"/>
              <a:t>training data</a:t>
            </a:r>
            <a:r>
              <a:rPr lang="en-US" altLang="en-US"/>
              <a:t>, it can overfit the training data (hence need to assess on validation)</a:t>
            </a:r>
          </a:p>
          <a:p>
            <a:pPr eaLnBrk="1" hangingPunct="1"/>
            <a:r>
              <a:rPr lang="en-US" altLang="en-US"/>
              <a:t>Assessing multiple models on same </a:t>
            </a:r>
            <a:r>
              <a:rPr lang="en-US" altLang="en-US" b="1"/>
              <a:t>validation data </a:t>
            </a:r>
            <a:r>
              <a:rPr lang="en-US" altLang="en-US"/>
              <a:t>can overfit validation data</a:t>
            </a:r>
          </a:p>
          <a:p>
            <a:pPr eaLnBrk="1" hangingPunct="1"/>
            <a:r>
              <a:rPr lang="en-US" altLang="en-US"/>
              <a:t>Some methods use the validation data to choose a parameter. This too can lead to overfitting the validation data </a:t>
            </a:r>
          </a:p>
          <a:p>
            <a:pPr eaLnBrk="1" hangingPunct="1"/>
            <a:r>
              <a:rPr lang="en-US" altLang="en-US"/>
              <a:t>Solution: final selected model is applied to a </a:t>
            </a:r>
            <a:r>
              <a:rPr lang="en-US" altLang="en-US" b="1" u="sng"/>
              <a:t>test</a:t>
            </a:r>
            <a:r>
              <a:rPr lang="en-US" altLang="en-US" b="1"/>
              <a:t> partition </a:t>
            </a:r>
            <a:r>
              <a:rPr lang="en-US" altLang="en-US"/>
              <a:t>to give unbiased estimate of its performance on new data 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664"/>
    </mc:Choice>
    <mc:Fallback xmlns="">
      <p:transition spd="slow" advTm="6066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2">
            <a:extLst>
              <a:ext uri="{FF2B5EF4-FFF2-40B4-BE49-F238E27FC236}">
                <a16:creationId xmlns:a16="http://schemas.microsoft.com/office/drawing/2014/main" id="{160E2CA0-CA3B-4B7A-B42D-A14BBE8C4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Why Evaluate?</a:t>
            </a:r>
          </a:p>
        </p:txBody>
      </p:sp>
      <p:sp>
        <p:nvSpPr>
          <p:cNvPr id="29699" name="Content Placeholder 3">
            <a:extLst>
              <a:ext uri="{FF2B5EF4-FFF2-40B4-BE49-F238E27FC236}">
                <a16:creationId xmlns:a16="http://schemas.microsoft.com/office/drawing/2014/main" id="{24EB4550-F62E-4091-83E2-AEA306C58FB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38200" y="2438400"/>
            <a:ext cx="7772400" cy="3581400"/>
          </a:xfrm>
        </p:spPr>
        <p:txBody>
          <a:bodyPr/>
          <a:lstStyle/>
          <a:p>
            <a:pPr eaLnBrk="1" hangingPunct="1"/>
            <a:r>
              <a:rPr lang="en-US" altLang="en-US"/>
              <a:t>Multiple methods are available to classify or predict</a:t>
            </a:r>
          </a:p>
          <a:p>
            <a:pPr eaLnBrk="1" hangingPunct="1"/>
            <a:r>
              <a:rPr lang="en-US" altLang="en-US"/>
              <a:t>For each method, multiple choices are available for settings</a:t>
            </a:r>
          </a:p>
          <a:p>
            <a:pPr eaLnBrk="1" hangingPunct="1"/>
            <a:r>
              <a:rPr lang="en-US" altLang="en-US"/>
              <a:t>To choose best model, need to assess each model’s performance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631"/>
    </mc:Choice>
    <mc:Fallback xmlns="">
      <p:transition spd="slow" advTm="5463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2">
            <a:extLst>
              <a:ext uri="{FF2B5EF4-FFF2-40B4-BE49-F238E27FC236}">
                <a16:creationId xmlns:a16="http://schemas.microsoft.com/office/drawing/2014/main" id="{1F9D5420-845D-41E3-97E6-FE09DF0D0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Accuracy Measures (Classification)</a:t>
            </a:r>
          </a:p>
        </p:txBody>
      </p:sp>
      <p:sp>
        <p:nvSpPr>
          <p:cNvPr id="33795" name="Content Placeholder 3">
            <a:extLst>
              <a:ext uri="{FF2B5EF4-FFF2-40B4-BE49-F238E27FC236}">
                <a16:creationId xmlns:a16="http://schemas.microsoft.com/office/drawing/2014/main" id="{C65A1BD7-D554-4FBD-AD3C-B3065AD1CF5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371600"/>
            <a:ext cx="7772400" cy="51816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Error = classifying a record as belonging to one class when it belongs to another class.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Error rate = percent of misclassified records out of the total records in the validation data</a:t>
            </a:r>
          </a:p>
          <a:p>
            <a:pPr marL="0" indent="0" eaLnBrk="1" hangingPunct="1">
              <a:buFont typeface="Wingdings 2" panose="05020102010507070707" pitchFamily="18" charset="2"/>
              <a:buNone/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“High separation of records” means that using predictor variables attains low error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“Low separation of records” means that using predictor variables does not improve much on naïve rule</a:t>
            </a:r>
          </a:p>
          <a:p>
            <a:pPr eaLnBrk="1" hangingPunct="1">
              <a:defRPr/>
            </a:pP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411"/>
    </mc:Choice>
    <mc:Fallback xmlns="">
      <p:transition spd="slow" advTm="12041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4">
            <a:extLst>
              <a:ext uri="{FF2B5EF4-FFF2-40B4-BE49-F238E27FC236}">
                <a16:creationId xmlns:a16="http://schemas.microsoft.com/office/drawing/2014/main" id="{8286B8CE-56A6-46CB-8A49-8D860D2A8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381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Confusion Matrix</a:t>
            </a:r>
          </a:p>
        </p:txBody>
      </p:sp>
      <p:sp>
        <p:nvSpPr>
          <p:cNvPr id="33795" name="Content Placeholder 5">
            <a:extLst>
              <a:ext uri="{FF2B5EF4-FFF2-40B4-BE49-F238E27FC236}">
                <a16:creationId xmlns:a16="http://schemas.microsoft.com/office/drawing/2014/main" id="{2200CFDA-F9B1-4934-B53C-734D2BD39819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381000" y="3679825"/>
            <a:ext cx="3581400" cy="1687513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/>
              <a:t>201</a:t>
            </a:r>
            <a:r>
              <a:rPr lang="en-US" altLang="en-US" sz="1800"/>
              <a:t> 1’s correctly classified as “1”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/>
              <a:t>85</a:t>
            </a:r>
            <a:r>
              <a:rPr lang="en-US" altLang="en-US" sz="1800"/>
              <a:t> 1’s incorrectly classified as “0”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/>
              <a:t>25</a:t>
            </a:r>
            <a:r>
              <a:rPr lang="en-US" altLang="en-US" sz="1800"/>
              <a:t> 0’s incorrectly classified as “1”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1800" b="1"/>
              <a:t>2689</a:t>
            </a:r>
            <a:r>
              <a:rPr lang="en-US" altLang="en-US" sz="1800"/>
              <a:t> 0’s correctly classified as “0”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/>
          </a:p>
        </p:txBody>
      </p:sp>
      <p:pic>
        <p:nvPicPr>
          <p:cNvPr id="33796" name="Picture 3">
            <a:extLst>
              <a:ext uri="{FF2B5EF4-FFF2-40B4-BE49-F238E27FC236}">
                <a16:creationId xmlns:a16="http://schemas.microsoft.com/office/drawing/2014/main" id="{F5469B72-697C-4714-963A-D8499431096A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2600" y="1524000"/>
            <a:ext cx="4892675" cy="1687513"/>
          </a:xfrm>
        </p:spPr>
      </p:pic>
      <p:sp>
        <p:nvSpPr>
          <p:cNvPr id="33797" name="Content Placeholder 3">
            <a:extLst>
              <a:ext uri="{FF2B5EF4-FFF2-40B4-BE49-F238E27FC236}">
                <a16:creationId xmlns:a16="http://schemas.microsoft.com/office/drawing/2014/main" id="{7559ACB7-6E5B-427F-960C-BC8F6CE12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429000"/>
            <a:ext cx="3581400" cy="2743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547688" indent="-2286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b="1"/>
              <a:t>Overall error rate</a:t>
            </a:r>
            <a:r>
              <a:rPr lang="en-US" altLang="en-US" sz="2000"/>
              <a:t> = (25+85)/3000 = 3.67%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b="1"/>
              <a:t>Accuracy</a:t>
            </a:r>
            <a:r>
              <a:rPr lang="en-US" altLang="en-US" sz="2000"/>
              <a:t> = 1 – err = (201+2689) = 96.33%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/>
              <a:t>If multiple classes, error rate is: </a:t>
            </a:r>
          </a:p>
          <a:p>
            <a:pPr lvl="1" eaLnBrk="1" hangingPunct="1">
              <a:buFont typeface="Wingdings 2" panose="05020102010507070707" pitchFamily="18" charset="2"/>
              <a:buNone/>
            </a:pPr>
            <a:r>
              <a:rPr lang="en-US" altLang="en-US" sz="2000"/>
              <a:t>(sum of misclassified records)/(total records)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314"/>
    </mc:Choice>
    <mc:Fallback xmlns="">
      <p:transition spd="slow" advTm="10531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1E7C2179-8421-4695-9D87-151918A66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Cutoff for classification</a:t>
            </a:r>
          </a:p>
        </p:txBody>
      </p:sp>
      <p:sp>
        <p:nvSpPr>
          <p:cNvPr id="35843" name="Content Placeholder 4">
            <a:extLst>
              <a:ext uri="{FF2B5EF4-FFF2-40B4-BE49-F238E27FC236}">
                <a16:creationId xmlns:a16="http://schemas.microsoft.com/office/drawing/2014/main" id="{A3098BB5-7744-4019-9F15-FB6CB7FD1FF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381000" indent="-381000" eaLnBrk="1" hangingPunct="1">
              <a:buFont typeface="Wingdings 2" panose="05020102010507070707" pitchFamily="18" charset="2"/>
              <a:buNone/>
            </a:pPr>
            <a:r>
              <a:rPr lang="en-US" altLang="en-US"/>
              <a:t>Most DM algorithms classify via a 2-step process:</a:t>
            </a:r>
          </a:p>
          <a:p>
            <a:pPr marL="381000" indent="-381000" eaLnBrk="1" hangingPunct="1">
              <a:buFont typeface="Wingdings 2" panose="05020102010507070707" pitchFamily="18" charset="2"/>
              <a:buNone/>
            </a:pPr>
            <a:r>
              <a:rPr lang="en-US" altLang="en-US"/>
              <a:t>For each record,</a:t>
            </a:r>
          </a:p>
          <a:p>
            <a:pPr marL="661988" lvl="1" indent="-342900" eaLnBrk="1" hangingPunct="1">
              <a:buFont typeface="Wingdings 2" panose="05020102010507070707" pitchFamily="18" charset="2"/>
              <a:buAutoNum type="arabicPeriod"/>
            </a:pPr>
            <a:r>
              <a:rPr lang="en-US" altLang="en-US"/>
              <a:t>Compute </a:t>
            </a:r>
            <a:r>
              <a:rPr lang="en-US" altLang="en-US" b="1"/>
              <a:t>probability of belonging to class “1”</a:t>
            </a:r>
          </a:p>
          <a:p>
            <a:pPr marL="661988" lvl="1" indent="-342900" eaLnBrk="1" hangingPunct="1">
              <a:buFont typeface="Wingdings 2" panose="05020102010507070707" pitchFamily="18" charset="2"/>
              <a:buAutoNum type="arabicPeriod"/>
            </a:pPr>
            <a:r>
              <a:rPr lang="en-US" altLang="en-US"/>
              <a:t>Compare to cutoff value, and classify accordingly</a:t>
            </a:r>
          </a:p>
          <a:p>
            <a:pPr marL="381000" indent="-381000" eaLnBrk="1" hangingPunct="1"/>
            <a:endParaRPr lang="en-US" altLang="en-US"/>
          </a:p>
          <a:p>
            <a:pPr marL="381000" indent="-381000" eaLnBrk="1" hangingPunct="1"/>
            <a:r>
              <a:rPr lang="en-US" altLang="en-US"/>
              <a:t>Default cutoff value is 0.50 </a:t>
            </a:r>
          </a:p>
          <a:p>
            <a:pPr marL="936625" lvl="2" indent="-342900" eaLnBrk="1" hangingPunct="1">
              <a:buFont typeface="Wingdings 2" panose="05020102010507070707" pitchFamily="18" charset="2"/>
              <a:buNone/>
            </a:pPr>
            <a:r>
              <a:rPr lang="en-US" altLang="en-US"/>
              <a:t>If &gt;= 0.50, classify as “1”</a:t>
            </a:r>
          </a:p>
          <a:p>
            <a:pPr marL="936625" lvl="2" indent="-342900" eaLnBrk="1" hangingPunct="1">
              <a:buFont typeface="Wingdings 2" panose="05020102010507070707" pitchFamily="18" charset="2"/>
              <a:buNone/>
            </a:pPr>
            <a:r>
              <a:rPr lang="en-US" altLang="en-US"/>
              <a:t>If &lt; 0.50, classify as “0”</a:t>
            </a:r>
          </a:p>
          <a:p>
            <a:pPr marL="381000" indent="-381000" eaLnBrk="1" hangingPunct="1"/>
            <a:r>
              <a:rPr lang="en-US" altLang="en-US"/>
              <a:t>Can use different cutoff values</a:t>
            </a:r>
          </a:p>
          <a:p>
            <a:pPr marL="381000" indent="-381000" eaLnBrk="1" hangingPunct="1"/>
            <a:r>
              <a:rPr lang="en-US" altLang="en-US"/>
              <a:t>Typically, error rate is lowest for cutoff = 0.50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558"/>
    </mc:Choice>
    <mc:Fallback xmlns="">
      <p:transition spd="slow" advTm="65558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2">
            <a:extLst>
              <a:ext uri="{FF2B5EF4-FFF2-40B4-BE49-F238E27FC236}">
                <a16:creationId xmlns:a16="http://schemas.microsoft.com/office/drawing/2014/main" id="{D48722AA-4801-49C3-B622-87F400AA6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When One Class is More Important</a:t>
            </a:r>
          </a:p>
        </p:txBody>
      </p:sp>
      <p:sp>
        <p:nvSpPr>
          <p:cNvPr id="37891" name="Content Placeholder 3">
            <a:extLst>
              <a:ext uri="{FF2B5EF4-FFF2-40B4-BE49-F238E27FC236}">
                <a16:creationId xmlns:a16="http://schemas.microsoft.com/office/drawing/2014/main" id="{CE529602-0877-45B6-AC73-178B02C1353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2895600"/>
            <a:ext cx="7772400" cy="2362200"/>
          </a:xfrm>
        </p:spPr>
        <p:txBody>
          <a:bodyPr/>
          <a:lstStyle/>
          <a:p>
            <a:pPr marL="571500" lvl="1" eaLnBrk="1" hangingPunct="1"/>
            <a:r>
              <a:rPr lang="en-US" altLang="en-US"/>
              <a:t>Tax fraud</a:t>
            </a:r>
          </a:p>
          <a:p>
            <a:pPr marL="571500" lvl="1" eaLnBrk="1" hangingPunct="1"/>
            <a:r>
              <a:rPr lang="en-US" altLang="en-US"/>
              <a:t>Credit default</a:t>
            </a:r>
          </a:p>
          <a:p>
            <a:pPr marL="571500" lvl="1" eaLnBrk="1" hangingPunct="1"/>
            <a:r>
              <a:rPr lang="en-US" altLang="en-US"/>
              <a:t>Response to promotional offer</a:t>
            </a:r>
          </a:p>
          <a:p>
            <a:pPr marL="571500" lvl="1" eaLnBrk="1" hangingPunct="1"/>
            <a:r>
              <a:rPr lang="en-US" altLang="en-US"/>
              <a:t>Detecting electronic network intrusion</a:t>
            </a:r>
          </a:p>
          <a:p>
            <a:pPr marL="571500" lvl="1" eaLnBrk="1" hangingPunct="1"/>
            <a:r>
              <a:rPr lang="en-US" altLang="en-US"/>
              <a:t>Predicting delayed flights</a:t>
            </a:r>
            <a:endParaRPr lang="en-US" altLang="en-US" sz="2200"/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01D715AF-41E4-4DD3-BDFB-F39A4974E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975" y="1743075"/>
            <a:ext cx="731202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/>
              <a:t>In many cases it is more important to identify members of one class</a:t>
            </a:r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2F2A9F24-7529-4752-8FD6-759F1D6C8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5118100"/>
            <a:ext cx="7543800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In such cases, we are willing to tolerate greater overall error, in return for better identifying the important class for further attention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855"/>
    </mc:Choice>
    <mc:Fallback xmlns="">
      <p:transition spd="slow" advTm="26855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932B9D04-BD04-4660-9488-E6F7B911B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Alternate Accuracy Measures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D650E1D0-A7BF-4F60-A6E1-2B0F0F9FE5D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371600"/>
            <a:ext cx="7391400" cy="49530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dirty="0"/>
              <a:t>If “C</a:t>
            </a:r>
            <a:r>
              <a:rPr lang="en-US" altLang="en-US" baseline="-25000" dirty="0"/>
              <a:t>1</a:t>
            </a:r>
            <a:r>
              <a:rPr lang="en-US" altLang="en-US" dirty="0"/>
              <a:t>” is the important class,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2800" b="1" dirty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b="1" dirty="0"/>
              <a:t>Sensitivity (True Positive Rate) </a:t>
            </a:r>
            <a:r>
              <a:rPr lang="en-US" altLang="en-US" sz="2000" dirty="0"/>
              <a:t>= % of “C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” class correctly classified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b="1" dirty="0"/>
              <a:t>Specificity (True Negative Rate) </a:t>
            </a:r>
            <a:r>
              <a:rPr lang="en-US" altLang="en-US" sz="2000" dirty="0"/>
              <a:t>= % of “C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” class correctly classified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2000" b="1" dirty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b="1" dirty="0"/>
              <a:t>False Positive Rate (FPR)= 1-Specificity  </a:t>
            </a:r>
          </a:p>
          <a:p>
            <a:pPr eaLnBrk="1" hangingPunct="1">
              <a:buNone/>
            </a:pPr>
            <a:r>
              <a:rPr lang="en-US" altLang="en-US" sz="2000" b="1" dirty="0"/>
              <a:t>False Negative Rate (FNR)= 1-Sensitivity   </a:t>
            </a:r>
          </a:p>
          <a:p>
            <a:pPr eaLnBrk="1" hangingPunct="1">
              <a:buNone/>
            </a:pPr>
            <a:endParaRPr lang="en-US" altLang="en-US" sz="2000" b="1" dirty="0"/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b="1" dirty="0"/>
              <a:t>False-positive predictive value (FPPV)</a:t>
            </a:r>
            <a:r>
              <a:rPr lang="en-US" altLang="en-US" sz="2000" dirty="0"/>
              <a:t> = % of predicted “C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’s” that were not “C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’s”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b="1" dirty="0"/>
              <a:t>False-negative predictive value(FNPV)</a:t>
            </a:r>
            <a:r>
              <a:rPr lang="en-US" altLang="en-US" sz="2000" dirty="0"/>
              <a:t> = % of predicted “C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’s” that were not “C</a:t>
            </a:r>
            <a:r>
              <a:rPr lang="en-US" altLang="en-US" sz="2000" baseline="-25000" dirty="0"/>
              <a:t>0</a:t>
            </a:r>
            <a:r>
              <a:rPr lang="en-US" altLang="en-US" sz="2000" dirty="0"/>
              <a:t>’s”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550"/>
    </mc:Choice>
    <mc:Fallback xmlns="">
      <p:transition spd="slow" advTm="8455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4">
            <a:extLst>
              <a:ext uri="{FF2B5EF4-FFF2-40B4-BE49-F238E27FC236}">
                <a16:creationId xmlns:a16="http://schemas.microsoft.com/office/drawing/2014/main" id="{8286B8CE-56A6-46CB-8A49-8D860D2A8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381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Alternate Accuracy measures (2)</a:t>
            </a:r>
          </a:p>
        </p:txBody>
      </p:sp>
      <p:pic>
        <p:nvPicPr>
          <p:cNvPr id="33796" name="Picture 3">
            <a:extLst>
              <a:ext uri="{FF2B5EF4-FFF2-40B4-BE49-F238E27FC236}">
                <a16:creationId xmlns:a16="http://schemas.microsoft.com/office/drawing/2014/main" id="{F5469B72-697C-4714-963A-D8499431096A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2600" y="1524000"/>
            <a:ext cx="4892675" cy="1687513"/>
          </a:xfrm>
        </p:spPr>
      </p:pic>
      <p:sp>
        <p:nvSpPr>
          <p:cNvPr id="33797" name="Content Placeholder 3">
            <a:extLst>
              <a:ext uri="{FF2B5EF4-FFF2-40B4-BE49-F238E27FC236}">
                <a16:creationId xmlns:a16="http://schemas.microsoft.com/office/drawing/2014/main" id="{7559ACB7-6E5B-427F-960C-BC8F6CE12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505200"/>
            <a:ext cx="3581400" cy="2743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547688" indent="-22860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b="1" dirty="0"/>
              <a:t>Sensitivity</a:t>
            </a:r>
            <a:r>
              <a:rPr lang="en-US" altLang="en-US" sz="2000" dirty="0"/>
              <a:t> = (201)/(201+85) = 70.28%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b="1" dirty="0"/>
              <a:t>Specificity =2689/</a:t>
            </a:r>
            <a:r>
              <a:rPr lang="en-US" altLang="en-US" sz="2000" dirty="0"/>
              <a:t> (25+2689) = 99%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/>
              <a:t>FPPV=25/(201+25)=11.06%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000" dirty="0"/>
              <a:t>FNPV=85/(85+2689)=3.06%</a:t>
            </a:r>
          </a:p>
        </p:txBody>
      </p:sp>
    </p:spTree>
    <p:extLst>
      <p:ext uri="{BB962C8B-B14F-4D97-AF65-F5344CB8AC3E}">
        <p14:creationId xmlns:p14="http://schemas.microsoft.com/office/powerpoint/2010/main" val="58807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690"/>
    </mc:Choice>
    <mc:Fallback xmlns="">
      <p:transition spd="slow" advTm="11369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D1EB3505-AFF5-404F-B6D7-E9F5ADF26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/>
              <a:t>ROC Curve	</a:t>
            </a:r>
          </a:p>
        </p:txBody>
      </p:sp>
      <p:pic>
        <p:nvPicPr>
          <p:cNvPr id="41987" name="Picture 4">
            <a:extLst>
              <a:ext uri="{FF2B5EF4-FFF2-40B4-BE49-F238E27FC236}">
                <a16:creationId xmlns:a16="http://schemas.microsoft.com/office/drawing/2014/main" id="{84C28E20-DFF1-4601-BB5A-DA0D91042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790700"/>
            <a:ext cx="6062663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7976B0-03FD-4577-9EA2-30102A6DF9EF}"/>
              </a:ext>
            </a:extLst>
          </p:cNvPr>
          <p:cNvSpPr txBox="1"/>
          <p:nvPr/>
        </p:nvSpPr>
        <p:spPr>
          <a:xfrm>
            <a:off x="6477000" y="1811338"/>
            <a:ext cx="2209800" cy="4524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/>
              <a:t>The higher the area under the curve (AUC), the better the predictive performance</a:t>
            </a:r>
            <a:r>
              <a:rPr lang="en-US"/>
              <a:t>. </a:t>
            </a:r>
          </a:p>
          <a:p>
            <a:pPr>
              <a:defRPr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dirty="0"/>
              <a:t>The AUC value lies between 0.5 (50%) to 1 (100%) where 0.5 denotes a bad classifier and 1 denotes an excellent classifier.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550"/>
    </mc:Choice>
    <mc:Fallback xmlns="">
      <p:transition spd="slow" advTm="6855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3">
            <a:extLst>
              <a:ext uri="{FF2B5EF4-FFF2-40B4-BE49-F238E27FC236}">
                <a16:creationId xmlns:a16="http://schemas.microsoft.com/office/drawing/2014/main" id="{133849DD-4CC8-48E7-8105-4E9438E2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514600"/>
            <a:ext cx="7772400" cy="1143000"/>
          </a:xfrm>
        </p:spPr>
        <p:txBody>
          <a:bodyPr/>
          <a:lstStyle/>
          <a:p>
            <a:pPr algn="ctr" eaLnBrk="1" hangingPunct="1"/>
            <a:r>
              <a:rPr lang="en-US" altLang="en-US"/>
              <a:t>Oversampling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11"/>
    </mc:Choice>
    <mc:Fallback xmlns="">
      <p:transition spd="slow" advTm="2071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2">
            <a:extLst>
              <a:ext uri="{FF2B5EF4-FFF2-40B4-BE49-F238E27FC236}">
                <a16:creationId xmlns:a16="http://schemas.microsoft.com/office/drawing/2014/main" id="{00364718-4588-466B-9558-29592096D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Rare Cases</a:t>
            </a:r>
          </a:p>
        </p:txBody>
      </p:sp>
      <p:sp>
        <p:nvSpPr>
          <p:cNvPr id="45059" name="Content Placeholder 3">
            <a:extLst>
              <a:ext uri="{FF2B5EF4-FFF2-40B4-BE49-F238E27FC236}">
                <a16:creationId xmlns:a16="http://schemas.microsoft.com/office/drawing/2014/main" id="{C6748CEC-50CA-49B6-8EC6-B92E103FD9E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2667000"/>
            <a:ext cx="7772400" cy="3048000"/>
          </a:xfrm>
        </p:spPr>
        <p:txBody>
          <a:bodyPr/>
          <a:lstStyle/>
          <a:p>
            <a:pPr lvl="1" eaLnBrk="1" hangingPunct="1"/>
            <a:r>
              <a:rPr lang="en-US" altLang="en-US"/>
              <a:t>Responder to mailing</a:t>
            </a:r>
          </a:p>
          <a:p>
            <a:pPr lvl="1" eaLnBrk="1" hangingPunct="1"/>
            <a:r>
              <a:rPr lang="en-US" altLang="en-US"/>
              <a:t>Someone who commits fraud</a:t>
            </a:r>
          </a:p>
          <a:p>
            <a:pPr lvl="1" eaLnBrk="1" hangingPunct="1"/>
            <a:r>
              <a:rPr lang="en-US" altLang="en-US"/>
              <a:t>Debt defaulter</a:t>
            </a:r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/>
              <a:t>Often we oversample rare cases to give model more information to work with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Typically use 50% “1” and 50% “0” for training</a:t>
            </a:r>
          </a:p>
          <a:p>
            <a:pPr eaLnBrk="1" hangingPunct="1"/>
            <a:endParaRPr lang="en-US" altLang="en-US"/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en-US"/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5DF0B3C4-3EE4-4221-BE22-265415EE8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676400"/>
            <a:ext cx="769620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Asymmetric costs/benefits typically go hand in hand with presence of rare but important class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477"/>
    </mc:Choice>
    <mc:Fallback xmlns="">
      <p:transition spd="slow" advTm="29477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BC442A67-BAF5-4B4D-B332-80EEC1E02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524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An Oversampling Procedure</a:t>
            </a:r>
          </a:p>
        </p:txBody>
      </p:sp>
      <p:sp>
        <p:nvSpPr>
          <p:cNvPr id="61443" name="Content Placeholder 4">
            <a:extLst>
              <a:ext uri="{FF2B5EF4-FFF2-40B4-BE49-F238E27FC236}">
                <a16:creationId xmlns:a16="http://schemas.microsoft.com/office/drawing/2014/main" id="{0910B985-AABA-4745-AB8F-2CBF6652951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/>
          <a:lstStyle/>
          <a:p>
            <a:pPr marL="514350" indent="-514350" eaLnBrk="1" hangingPunct="1">
              <a:lnSpc>
                <a:spcPct val="90000"/>
              </a:lnSpc>
              <a:buFont typeface="Franklin Gothic Book" panose="020B0503020102020204" pitchFamily="34" charset="0"/>
              <a:buAutoNum type="arabicPeriod"/>
              <a:defRPr/>
            </a:pPr>
            <a:r>
              <a:rPr lang="en-US" altLang="en-US" dirty="0"/>
              <a:t>Separate the responders (rare) from non-responders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anose="020B0503020102020204" pitchFamily="34" charset="0"/>
              <a:buAutoNum type="arabicPeriod"/>
              <a:defRPr/>
            </a:pPr>
            <a:r>
              <a:rPr lang="en-US" altLang="en-US" dirty="0"/>
              <a:t>Randomly assign half the responders to the training sample, plus equal number of non-responders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anose="020B0503020102020204" pitchFamily="34" charset="0"/>
              <a:buAutoNum type="arabicPeriod"/>
              <a:defRPr/>
            </a:pPr>
            <a:r>
              <a:rPr lang="en-US" altLang="en-US" dirty="0"/>
              <a:t>Remaining responders go to validation sample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anose="020B0503020102020204" pitchFamily="34" charset="0"/>
              <a:buAutoNum type="arabicPeriod"/>
              <a:defRPr/>
            </a:pPr>
            <a:r>
              <a:rPr lang="en-US" altLang="en-US" dirty="0"/>
              <a:t>Add non-responders to validation data, to maintain original ratio of responders to non-responders.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anose="020B0503020102020204" pitchFamily="34" charset="0"/>
              <a:buAutoNum type="arabicPeriod"/>
              <a:defRPr/>
            </a:pPr>
            <a:r>
              <a:rPr lang="en-US" altLang="en-US" dirty="0"/>
              <a:t> Let </a:t>
            </a:r>
            <a:r>
              <a:rPr lang="en-US" altLang="en-US" b="1" i="1" dirty="0">
                <a:solidFill>
                  <a:srgbClr val="0070C0"/>
                </a:solidFill>
              </a:rPr>
              <a:t>p</a:t>
            </a:r>
            <a:r>
              <a:rPr lang="en-US" altLang="en-US" dirty="0"/>
              <a:t> be the proportion of non-responders and </a:t>
            </a:r>
            <a:r>
              <a:rPr lang="en-US" altLang="en-US" b="1" i="1" dirty="0">
                <a:solidFill>
                  <a:srgbClr val="0070C0"/>
                </a:solidFill>
              </a:rPr>
              <a:t>n</a:t>
            </a:r>
            <a:r>
              <a:rPr lang="en-US" altLang="en-US" sz="1800" b="1" i="1" dirty="0">
                <a:solidFill>
                  <a:srgbClr val="0070C0"/>
                </a:solidFill>
              </a:rPr>
              <a:t>1</a:t>
            </a:r>
            <a:r>
              <a:rPr lang="en-US" altLang="en-US" dirty="0"/>
              <a:t> the number of responders in the original data, the number of non-responders in the validation is  </a:t>
            </a:r>
            <a:r>
              <a:rPr lang="en-US" altLang="en-US" b="1" i="1" dirty="0">
                <a:solidFill>
                  <a:srgbClr val="0070C0"/>
                </a:solidFill>
                <a:highlight>
                  <a:srgbClr val="FFFF00"/>
                </a:highlight>
              </a:rPr>
              <a:t>n</a:t>
            </a:r>
            <a:r>
              <a:rPr lang="en-US" altLang="en-US" sz="1800" b="1" i="1" dirty="0">
                <a:solidFill>
                  <a:srgbClr val="0070C0"/>
                </a:solidFill>
                <a:highlight>
                  <a:srgbClr val="FFFF00"/>
                </a:highlight>
              </a:rPr>
              <a:t>0v</a:t>
            </a:r>
            <a:r>
              <a:rPr lang="en-US" altLang="en-US" b="1" i="1" dirty="0">
                <a:solidFill>
                  <a:srgbClr val="0070C0"/>
                </a:solidFill>
                <a:highlight>
                  <a:srgbClr val="FFFF00"/>
                </a:highlight>
              </a:rPr>
              <a:t>= p*0.5*n</a:t>
            </a:r>
            <a:r>
              <a:rPr lang="en-US" altLang="en-US" sz="1800" b="1" i="1" dirty="0">
                <a:solidFill>
                  <a:srgbClr val="0070C0"/>
                </a:solidFill>
                <a:highlight>
                  <a:srgbClr val="FFFF00"/>
                </a:highlight>
              </a:rPr>
              <a:t>1</a:t>
            </a:r>
            <a:r>
              <a:rPr lang="en-US" altLang="en-US" b="1" i="1" dirty="0">
                <a:solidFill>
                  <a:srgbClr val="0070C0"/>
                </a:solidFill>
                <a:highlight>
                  <a:srgbClr val="FFFF00"/>
                </a:highlight>
              </a:rPr>
              <a:t>/(1-p)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anose="020B0503020102020204" pitchFamily="34" charset="0"/>
              <a:buAutoNum type="arabicPeriod"/>
              <a:defRPr/>
            </a:pPr>
            <a:r>
              <a:rPr lang="en-US" altLang="en-US" dirty="0"/>
              <a:t>Randomly take test set (if needed) from validation</a:t>
            </a:r>
          </a:p>
          <a:p>
            <a:pPr marL="514350" indent="-514350" eaLnBrk="1" hangingPunct="1">
              <a:lnSpc>
                <a:spcPct val="90000"/>
              </a:lnSpc>
              <a:buFont typeface="Franklin Gothic Book" panose="020B0503020102020204" pitchFamily="34" charset="0"/>
              <a:buAutoNum type="arabicPeriod"/>
              <a:defRPr/>
            </a:pPr>
            <a:endParaRPr lang="en-US" altLang="en-US" dirty="0"/>
          </a:p>
          <a:p>
            <a:pPr marL="514350" indent="-514350" eaLnBrk="1" hangingPunct="1">
              <a:lnSpc>
                <a:spcPct val="90000"/>
              </a:lnSpc>
              <a:buFont typeface="Franklin Gothic Book" panose="020B0503020102020204" pitchFamily="34" charset="0"/>
              <a:buAutoNum type="arabicPeriod"/>
              <a:defRPr/>
            </a:pPr>
            <a:endParaRPr lang="en-US" altLang="en-US" dirty="0"/>
          </a:p>
          <a:p>
            <a:pPr marL="514350" indent="-514350" eaLnBrk="1" hangingPunct="1">
              <a:lnSpc>
                <a:spcPct val="90000"/>
              </a:lnSpc>
              <a:defRPr/>
            </a:pPr>
            <a:endParaRPr lang="en-US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8679"/>
    </mc:Choice>
    <mc:Fallback xmlns="">
      <p:transition spd="slow" advTm="148679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2">
            <a:extLst>
              <a:ext uri="{FF2B5EF4-FFF2-40B4-BE49-F238E27FC236}">
                <a16:creationId xmlns:a16="http://schemas.microsoft.com/office/drawing/2014/main" id="{00364718-4588-466B-9558-29592096D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81583"/>
            <a:ext cx="7772400" cy="398834"/>
          </a:xfrm>
        </p:spPr>
        <p:txBody>
          <a:bodyPr/>
          <a:lstStyle/>
          <a:p>
            <a:pPr eaLnBrk="1" hangingPunct="1"/>
            <a:br>
              <a:rPr lang="en-US" altLang="en-US" sz="3600" dirty="0"/>
            </a:br>
            <a:br>
              <a:rPr lang="en-US" altLang="en-US" sz="3600" dirty="0"/>
            </a:br>
            <a:br>
              <a:rPr lang="en-US" altLang="en-US" sz="3600" dirty="0"/>
            </a:br>
            <a:r>
              <a:rPr lang="en-US" altLang="en-US" sz="2800" dirty="0"/>
              <a:t>Oversampling with 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FD80C4-55A4-A9AF-5464-3749117186A4}"/>
              </a:ext>
            </a:extLst>
          </p:cNvPr>
          <p:cNvSpPr txBox="1"/>
          <p:nvPr/>
        </p:nvSpPr>
        <p:spPr>
          <a:xfrm>
            <a:off x="266700" y="381000"/>
            <a:ext cx="87249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latin typeface="Calibri" panose="020F0502020204030204" pitchFamily="34" charset="0"/>
              </a:rPr>
              <a:t># Assuming '</a:t>
            </a:r>
            <a:r>
              <a:rPr lang="en-US" sz="1050" dirty="0" err="1">
                <a:latin typeface="Calibri" panose="020F0502020204030204" pitchFamily="34" charset="0"/>
              </a:rPr>
              <a:t>your_data</a:t>
            </a:r>
            <a:r>
              <a:rPr lang="en-US" sz="1050" dirty="0">
                <a:latin typeface="Calibri" panose="020F0502020204030204" pitchFamily="34" charset="0"/>
              </a:rPr>
              <a:t>' is your original dataset (generated below)</a:t>
            </a:r>
          </a:p>
          <a:p>
            <a:r>
              <a:rPr lang="en-US" sz="1050" dirty="0" err="1">
                <a:latin typeface="Calibri" panose="020F0502020204030204" pitchFamily="34" charset="0"/>
              </a:rPr>
              <a:t>set.seed</a:t>
            </a:r>
            <a:r>
              <a:rPr lang="en-US" sz="1050" dirty="0">
                <a:latin typeface="Calibri" panose="020F0502020204030204" pitchFamily="34" charset="0"/>
              </a:rPr>
              <a:t>(123)</a:t>
            </a:r>
          </a:p>
          <a:p>
            <a:r>
              <a:rPr lang="en-US" sz="1050" dirty="0" err="1">
                <a:latin typeface="Calibri" panose="020F0502020204030204" pitchFamily="34" charset="0"/>
              </a:rPr>
              <a:t>your_data</a:t>
            </a:r>
            <a:r>
              <a:rPr lang="en-US" sz="1050" dirty="0">
                <a:latin typeface="Calibri" panose="020F0502020204030204" pitchFamily="34" charset="0"/>
              </a:rPr>
              <a:t>=</a:t>
            </a:r>
            <a:r>
              <a:rPr lang="en-US" sz="1050" dirty="0" err="1">
                <a:latin typeface="Calibri" panose="020F0502020204030204" pitchFamily="34" charset="0"/>
              </a:rPr>
              <a:t>cbind</a:t>
            </a:r>
            <a:r>
              <a:rPr lang="en-US" sz="1050" dirty="0">
                <a:latin typeface="Calibri" panose="020F0502020204030204" pitchFamily="34" charset="0"/>
              </a:rPr>
              <a:t>(</a:t>
            </a:r>
            <a:r>
              <a:rPr lang="en-US" sz="1050" dirty="0" err="1">
                <a:latin typeface="Calibri" panose="020F0502020204030204" pitchFamily="34" charset="0"/>
              </a:rPr>
              <a:t>rbinom</a:t>
            </a:r>
            <a:r>
              <a:rPr lang="en-US" sz="1050" dirty="0">
                <a:latin typeface="Calibri" panose="020F0502020204030204" pitchFamily="34" charset="0"/>
              </a:rPr>
              <a:t>(1000,1,0.05),</a:t>
            </a:r>
            <a:r>
              <a:rPr lang="en-US" sz="1050" dirty="0" err="1">
                <a:latin typeface="Calibri" panose="020F0502020204030204" pitchFamily="34" charset="0"/>
              </a:rPr>
              <a:t>rnorm</a:t>
            </a:r>
            <a:r>
              <a:rPr lang="en-US" sz="1050" dirty="0">
                <a:latin typeface="Calibri" panose="020F0502020204030204" pitchFamily="34" charset="0"/>
              </a:rPr>
              <a:t>(n=1000,m=35,sd=4),</a:t>
            </a:r>
            <a:r>
              <a:rPr lang="en-US" sz="1050" dirty="0" err="1">
                <a:latin typeface="Calibri" panose="020F0502020204030204" pitchFamily="34" charset="0"/>
              </a:rPr>
              <a:t>rnorm</a:t>
            </a:r>
            <a:r>
              <a:rPr lang="en-US" sz="1050" dirty="0">
                <a:latin typeface="Calibri" panose="020F0502020204030204" pitchFamily="34" charset="0"/>
              </a:rPr>
              <a:t>(n=1000,m=1500,sd=500))</a:t>
            </a:r>
          </a:p>
          <a:p>
            <a:r>
              <a:rPr lang="en-US" sz="1050" dirty="0" err="1">
                <a:latin typeface="Calibri" panose="020F0502020204030204" pitchFamily="34" charset="0"/>
              </a:rPr>
              <a:t>colnames</a:t>
            </a:r>
            <a:r>
              <a:rPr lang="en-US" sz="1050" dirty="0">
                <a:latin typeface="Calibri" panose="020F0502020204030204" pitchFamily="34" charset="0"/>
              </a:rPr>
              <a:t>(</a:t>
            </a:r>
            <a:r>
              <a:rPr lang="en-US" sz="1050" dirty="0" err="1">
                <a:latin typeface="Calibri" panose="020F0502020204030204" pitchFamily="34" charset="0"/>
              </a:rPr>
              <a:t>your_data</a:t>
            </a:r>
            <a:r>
              <a:rPr lang="en-US" sz="1050" dirty="0">
                <a:latin typeface="Calibri" panose="020F0502020204030204" pitchFamily="34" charset="0"/>
              </a:rPr>
              <a:t>)=c("Class", "</a:t>
            </a:r>
            <a:r>
              <a:rPr lang="en-US" sz="1050" dirty="0" err="1">
                <a:latin typeface="Calibri" panose="020F0502020204030204" pitchFamily="34" charset="0"/>
              </a:rPr>
              <a:t>Age","Salary</a:t>
            </a:r>
            <a:r>
              <a:rPr lang="en-US" sz="1050" dirty="0">
                <a:latin typeface="Calibri" panose="020F0502020204030204" pitchFamily="34" charset="0"/>
              </a:rPr>
              <a:t>")</a:t>
            </a:r>
          </a:p>
          <a:p>
            <a:r>
              <a:rPr lang="en-US" sz="1050" dirty="0" err="1">
                <a:latin typeface="Calibri" panose="020F0502020204030204" pitchFamily="34" charset="0"/>
              </a:rPr>
              <a:t>your_data</a:t>
            </a:r>
            <a:r>
              <a:rPr lang="en-US" sz="1050" dirty="0">
                <a:latin typeface="Calibri" panose="020F0502020204030204" pitchFamily="34" charset="0"/>
              </a:rPr>
              <a:t>=</a:t>
            </a:r>
            <a:r>
              <a:rPr lang="en-US" sz="1050" dirty="0" err="1">
                <a:latin typeface="Calibri" panose="020F0502020204030204" pitchFamily="34" charset="0"/>
              </a:rPr>
              <a:t>as.data.frame</a:t>
            </a:r>
            <a:r>
              <a:rPr lang="en-US" sz="1050" dirty="0">
                <a:latin typeface="Calibri" panose="020F0502020204030204" pitchFamily="34" charset="0"/>
              </a:rPr>
              <a:t>(</a:t>
            </a:r>
            <a:r>
              <a:rPr lang="en-US" sz="1050" dirty="0" err="1">
                <a:latin typeface="Calibri" panose="020F0502020204030204" pitchFamily="34" charset="0"/>
              </a:rPr>
              <a:t>your_data</a:t>
            </a:r>
            <a:r>
              <a:rPr lang="en-US" sz="1050" dirty="0">
                <a:latin typeface="Calibri" panose="020F0502020204030204" pitchFamily="34" charset="0"/>
              </a:rPr>
              <a:t>)</a:t>
            </a:r>
          </a:p>
          <a:p>
            <a:endParaRPr lang="en" sz="1050" dirty="0">
              <a:latin typeface="Calibri" panose="020F0502020204030204" pitchFamily="34" charset="0"/>
            </a:endParaRPr>
          </a:p>
          <a:p>
            <a:r>
              <a:rPr lang="en-US" sz="1050" dirty="0">
                <a:latin typeface="Calibri" panose="020F0502020204030204" pitchFamily="34" charset="0"/>
              </a:rPr>
              <a:t># Separate responders (class 1) from non-responders (class 0)</a:t>
            </a:r>
          </a:p>
          <a:p>
            <a:r>
              <a:rPr lang="en-US" sz="1050" dirty="0">
                <a:latin typeface="Calibri" panose="020F0502020204030204" pitchFamily="34" charset="0"/>
              </a:rPr>
              <a:t>responders &lt;- subset(</a:t>
            </a:r>
            <a:r>
              <a:rPr lang="en-US" sz="1050" dirty="0" err="1">
                <a:latin typeface="Calibri" panose="020F0502020204030204" pitchFamily="34" charset="0"/>
              </a:rPr>
              <a:t>your_data</a:t>
            </a:r>
            <a:r>
              <a:rPr lang="en-US" sz="1050" dirty="0">
                <a:latin typeface="Calibri" panose="020F0502020204030204" pitchFamily="34" charset="0"/>
              </a:rPr>
              <a:t>, Class == 1)</a:t>
            </a:r>
          </a:p>
          <a:p>
            <a:r>
              <a:rPr lang="en-US" sz="1050" dirty="0" err="1">
                <a:latin typeface="Calibri" panose="020F0502020204030204" pitchFamily="34" charset="0"/>
              </a:rPr>
              <a:t>non_responders</a:t>
            </a:r>
            <a:r>
              <a:rPr lang="en-US" sz="1050" dirty="0">
                <a:latin typeface="Calibri" panose="020F0502020204030204" pitchFamily="34" charset="0"/>
              </a:rPr>
              <a:t> &lt;- subset(</a:t>
            </a:r>
            <a:r>
              <a:rPr lang="en-US" sz="1050" dirty="0" err="1">
                <a:latin typeface="Calibri" panose="020F0502020204030204" pitchFamily="34" charset="0"/>
              </a:rPr>
              <a:t>your_data</a:t>
            </a:r>
            <a:r>
              <a:rPr lang="en-US" sz="1050" dirty="0">
                <a:latin typeface="Calibri" panose="020F0502020204030204" pitchFamily="34" charset="0"/>
              </a:rPr>
              <a:t>, Class == 0)</a:t>
            </a:r>
          </a:p>
          <a:p>
            <a:endParaRPr lang="en" sz="1050" dirty="0">
              <a:latin typeface="Calibri" panose="020F0502020204030204" pitchFamily="34" charset="0"/>
            </a:endParaRPr>
          </a:p>
          <a:p>
            <a:r>
              <a:rPr lang="en-US" sz="1050" dirty="0">
                <a:latin typeface="Calibri" panose="020F0502020204030204" pitchFamily="34" charset="0"/>
              </a:rPr>
              <a:t># Calculate the number of responders and non-responders</a:t>
            </a:r>
          </a:p>
          <a:p>
            <a:r>
              <a:rPr lang="en-US" sz="1050" dirty="0" err="1">
                <a:latin typeface="Calibri" panose="020F0502020204030204" pitchFamily="34" charset="0"/>
              </a:rPr>
              <a:t>num_responders</a:t>
            </a:r>
            <a:r>
              <a:rPr lang="en-US" sz="1050" dirty="0">
                <a:latin typeface="Calibri" panose="020F0502020204030204" pitchFamily="34" charset="0"/>
              </a:rPr>
              <a:t> &lt;- </a:t>
            </a:r>
            <a:r>
              <a:rPr lang="en-US" sz="1050" dirty="0" err="1">
                <a:latin typeface="Calibri" panose="020F0502020204030204" pitchFamily="34" charset="0"/>
              </a:rPr>
              <a:t>nrow</a:t>
            </a:r>
            <a:r>
              <a:rPr lang="en-US" sz="1050" dirty="0">
                <a:latin typeface="Calibri" panose="020F0502020204030204" pitchFamily="34" charset="0"/>
              </a:rPr>
              <a:t>(responders)</a:t>
            </a:r>
          </a:p>
          <a:p>
            <a:r>
              <a:rPr lang="it-IT" sz="1050" dirty="0">
                <a:latin typeface="Calibri" panose="020F0502020204030204" pitchFamily="34" charset="0"/>
              </a:rPr>
              <a:t>num_non_responders &lt;- nrow(non_responders)</a:t>
            </a:r>
          </a:p>
          <a:p>
            <a:endParaRPr lang="en" sz="1050" dirty="0">
              <a:latin typeface="Calibri" panose="020F0502020204030204" pitchFamily="34" charset="0"/>
            </a:endParaRPr>
          </a:p>
          <a:p>
            <a:r>
              <a:rPr lang="en-US" sz="1050" dirty="0">
                <a:latin typeface="Calibri" panose="020F0502020204030204" pitchFamily="34" charset="0"/>
              </a:rPr>
              <a:t># Randomly assign half of responders to training sample</a:t>
            </a:r>
          </a:p>
          <a:p>
            <a:r>
              <a:rPr lang="en-US" sz="1050" dirty="0" err="1">
                <a:latin typeface="Calibri" panose="020F0502020204030204" pitchFamily="34" charset="0"/>
              </a:rPr>
              <a:t>set.seed</a:t>
            </a:r>
            <a:r>
              <a:rPr lang="en-US" sz="1050" dirty="0">
                <a:latin typeface="Calibri" panose="020F0502020204030204" pitchFamily="34" charset="0"/>
              </a:rPr>
              <a:t>(123)</a:t>
            </a:r>
          </a:p>
          <a:p>
            <a:r>
              <a:rPr lang="en-US" sz="1050" dirty="0" err="1">
                <a:latin typeface="Calibri" panose="020F0502020204030204" pitchFamily="34" charset="0"/>
              </a:rPr>
              <a:t>train_responders_indices</a:t>
            </a:r>
            <a:r>
              <a:rPr lang="en-US" sz="1050" dirty="0">
                <a:latin typeface="Calibri" panose="020F0502020204030204" pitchFamily="34" charset="0"/>
              </a:rPr>
              <a:t> &lt;- sample(1:num_responders, size = </a:t>
            </a:r>
            <a:r>
              <a:rPr lang="en-US" sz="1050" dirty="0" err="1">
                <a:latin typeface="Calibri" panose="020F0502020204030204" pitchFamily="34" charset="0"/>
              </a:rPr>
              <a:t>num_responders</a:t>
            </a:r>
            <a:r>
              <a:rPr lang="en-US" sz="1050" dirty="0">
                <a:latin typeface="Calibri" panose="020F0502020204030204" pitchFamily="34" charset="0"/>
              </a:rPr>
              <a:t> / 2)</a:t>
            </a:r>
          </a:p>
          <a:p>
            <a:r>
              <a:rPr lang="fr-FR" sz="1050" dirty="0" err="1">
                <a:latin typeface="Calibri" panose="020F0502020204030204" pitchFamily="34" charset="0"/>
              </a:rPr>
              <a:t>train_responders</a:t>
            </a:r>
            <a:r>
              <a:rPr lang="fr-FR" sz="1050" dirty="0">
                <a:latin typeface="Calibri" panose="020F0502020204030204" pitchFamily="34" charset="0"/>
              </a:rPr>
              <a:t> &lt;- </a:t>
            </a:r>
            <a:r>
              <a:rPr lang="fr-FR" sz="1050" dirty="0" err="1">
                <a:latin typeface="Calibri" panose="020F0502020204030204" pitchFamily="34" charset="0"/>
              </a:rPr>
              <a:t>responders</a:t>
            </a:r>
            <a:r>
              <a:rPr lang="fr-FR" sz="1050" dirty="0">
                <a:latin typeface="Calibri" panose="020F0502020204030204" pitchFamily="34" charset="0"/>
              </a:rPr>
              <a:t>[</a:t>
            </a:r>
            <a:r>
              <a:rPr lang="fr-FR" sz="1050" dirty="0" err="1">
                <a:latin typeface="Calibri" panose="020F0502020204030204" pitchFamily="34" charset="0"/>
              </a:rPr>
              <a:t>train_responders_indices</a:t>
            </a:r>
            <a:r>
              <a:rPr lang="fr-FR" sz="1050" dirty="0">
                <a:latin typeface="Calibri" panose="020F0502020204030204" pitchFamily="34" charset="0"/>
              </a:rPr>
              <a:t>, ]</a:t>
            </a:r>
          </a:p>
          <a:p>
            <a:endParaRPr lang="en" sz="1050" dirty="0">
              <a:latin typeface="Calibri" panose="020F0502020204030204" pitchFamily="34" charset="0"/>
            </a:endParaRPr>
          </a:p>
          <a:p>
            <a:r>
              <a:rPr lang="en-US" sz="1050" dirty="0">
                <a:latin typeface="Calibri" panose="020F0502020204030204" pitchFamily="34" charset="0"/>
              </a:rPr>
              <a:t># Select equal number of non-responders for training</a:t>
            </a:r>
          </a:p>
          <a:p>
            <a:r>
              <a:rPr lang="fr-FR" sz="1050" dirty="0" err="1">
                <a:latin typeface="Calibri" panose="020F0502020204030204" pitchFamily="34" charset="0"/>
              </a:rPr>
              <a:t>train_non_responders</a:t>
            </a:r>
            <a:r>
              <a:rPr lang="fr-FR" sz="1050" dirty="0">
                <a:latin typeface="Calibri" panose="020F0502020204030204" pitchFamily="34" charset="0"/>
              </a:rPr>
              <a:t> &lt;- </a:t>
            </a:r>
            <a:r>
              <a:rPr lang="fr-FR" sz="1050" dirty="0" err="1">
                <a:latin typeface="Calibri" panose="020F0502020204030204" pitchFamily="34" charset="0"/>
              </a:rPr>
              <a:t>non_responders</a:t>
            </a:r>
            <a:r>
              <a:rPr lang="fr-FR" sz="1050" dirty="0">
                <a:latin typeface="Calibri" panose="020F0502020204030204" pitchFamily="34" charset="0"/>
              </a:rPr>
              <a:t>[</a:t>
            </a:r>
            <a:r>
              <a:rPr lang="fr-FR" sz="1050" dirty="0" err="1">
                <a:latin typeface="Calibri" panose="020F0502020204030204" pitchFamily="34" charset="0"/>
              </a:rPr>
              <a:t>train_responders_indices</a:t>
            </a:r>
            <a:r>
              <a:rPr lang="fr-FR" sz="1050" dirty="0">
                <a:latin typeface="Calibri" panose="020F0502020204030204" pitchFamily="34" charset="0"/>
              </a:rPr>
              <a:t>, ]</a:t>
            </a:r>
          </a:p>
          <a:p>
            <a:endParaRPr lang="en" sz="1050" dirty="0">
              <a:latin typeface="Calibri" panose="020F0502020204030204" pitchFamily="34" charset="0"/>
            </a:endParaRPr>
          </a:p>
          <a:p>
            <a:r>
              <a:rPr lang="en-US" sz="1050" dirty="0">
                <a:latin typeface="Calibri" panose="020F0502020204030204" pitchFamily="34" charset="0"/>
              </a:rPr>
              <a:t># Remaining responders go to validation sample</a:t>
            </a:r>
          </a:p>
          <a:p>
            <a:r>
              <a:rPr lang="fr-FR" sz="1050" dirty="0" err="1">
                <a:latin typeface="Calibri" panose="020F0502020204030204" pitchFamily="34" charset="0"/>
              </a:rPr>
              <a:t>validation_responders</a:t>
            </a:r>
            <a:r>
              <a:rPr lang="fr-FR" sz="1050" dirty="0">
                <a:latin typeface="Calibri" panose="020F0502020204030204" pitchFamily="34" charset="0"/>
              </a:rPr>
              <a:t> &lt;- </a:t>
            </a:r>
            <a:r>
              <a:rPr lang="fr-FR" sz="1050" dirty="0" err="1">
                <a:latin typeface="Calibri" panose="020F0502020204030204" pitchFamily="34" charset="0"/>
              </a:rPr>
              <a:t>responders</a:t>
            </a:r>
            <a:r>
              <a:rPr lang="fr-FR" sz="1050" dirty="0">
                <a:latin typeface="Calibri" panose="020F0502020204030204" pitchFamily="34" charset="0"/>
              </a:rPr>
              <a:t>[-</a:t>
            </a:r>
            <a:r>
              <a:rPr lang="fr-FR" sz="1050" dirty="0" err="1">
                <a:latin typeface="Calibri" panose="020F0502020204030204" pitchFamily="34" charset="0"/>
              </a:rPr>
              <a:t>train_responders_indices</a:t>
            </a:r>
            <a:r>
              <a:rPr lang="fr-FR" sz="1050" dirty="0">
                <a:latin typeface="Calibri" panose="020F0502020204030204" pitchFamily="34" charset="0"/>
              </a:rPr>
              <a:t>, ]</a:t>
            </a:r>
          </a:p>
          <a:p>
            <a:endParaRPr lang="fr-FR" sz="1050" dirty="0">
              <a:solidFill>
                <a:srgbClr val="0070C0"/>
              </a:solidFill>
              <a:latin typeface="Calibri" panose="020F0502020204030204" pitchFamily="34" charset="0"/>
            </a:endParaRPr>
          </a:p>
          <a:p>
            <a:r>
              <a:rPr lang="fr-FR" sz="1050" dirty="0" err="1">
                <a:solidFill>
                  <a:srgbClr val="0070C0"/>
                </a:solidFill>
                <a:latin typeface="Calibri" panose="020F0502020204030204" pitchFamily="34" charset="0"/>
              </a:rPr>
              <a:t>non_responders</a:t>
            </a:r>
            <a:r>
              <a:rPr lang="fr-FR" sz="1050" dirty="0">
                <a:solidFill>
                  <a:srgbClr val="0070C0"/>
                </a:solidFill>
                <a:latin typeface="Calibri" panose="020F0502020204030204" pitchFamily="34" charset="0"/>
              </a:rPr>
              <a:t> =</a:t>
            </a:r>
            <a:r>
              <a:rPr lang="fr-FR" sz="1050" dirty="0" err="1">
                <a:solidFill>
                  <a:srgbClr val="0070C0"/>
                </a:solidFill>
                <a:latin typeface="Calibri" panose="020F0502020204030204" pitchFamily="34" charset="0"/>
              </a:rPr>
              <a:t>non_responders</a:t>
            </a:r>
            <a:r>
              <a:rPr lang="fr-FR" sz="1050" dirty="0">
                <a:solidFill>
                  <a:srgbClr val="0070C0"/>
                </a:solidFill>
                <a:latin typeface="Calibri" panose="020F0502020204030204" pitchFamily="34" charset="0"/>
              </a:rPr>
              <a:t>[-</a:t>
            </a:r>
            <a:r>
              <a:rPr lang="fr-FR" sz="1050" dirty="0" err="1">
                <a:solidFill>
                  <a:srgbClr val="0070C0"/>
                </a:solidFill>
                <a:latin typeface="Calibri" panose="020F0502020204030204" pitchFamily="34" charset="0"/>
              </a:rPr>
              <a:t>train_responders_indices</a:t>
            </a:r>
            <a:r>
              <a:rPr lang="fr-FR" sz="1050" dirty="0">
                <a:solidFill>
                  <a:srgbClr val="0070C0"/>
                </a:solidFill>
                <a:latin typeface="Calibri" panose="020F0502020204030204" pitchFamily="34" charset="0"/>
              </a:rPr>
              <a:t>, ]</a:t>
            </a:r>
          </a:p>
          <a:p>
            <a:r>
              <a:rPr lang="fr-FR" sz="1050" dirty="0" err="1">
                <a:solidFill>
                  <a:srgbClr val="0070C0"/>
                </a:solidFill>
                <a:latin typeface="Calibri" panose="020F0502020204030204" pitchFamily="34" charset="0"/>
              </a:rPr>
              <a:t>num_non_responders</a:t>
            </a:r>
            <a:r>
              <a:rPr lang="fr-FR" sz="1050" dirty="0">
                <a:solidFill>
                  <a:srgbClr val="0070C0"/>
                </a:solidFill>
                <a:latin typeface="Calibri" panose="020F0502020204030204" pitchFamily="34" charset="0"/>
              </a:rPr>
              <a:t> =</a:t>
            </a:r>
            <a:r>
              <a:rPr lang="fr-FR" sz="1050" dirty="0" err="1">
                <a:solidFill>
                  <a:srgbClr val="0070C0"/>
                </a:solidFill>
                <a:latin typeface="Calibri" panose="020F0502020204030204" pitchFamily="34" charset="0"/>
              </a:rPr>
              <a:t>nrow</a:t>
            </a:r>
            <a:r>
              <a:rPr lang="fr-FR" sz="1050" dirty="0">
                <a:solidFill>
                  <a:srgbClr val="0070C0"/>
                </a:solidFill>
                <a:latin typeface="Calibri" panose="020F0502020204030204" pitchFamily="34" charset="0"/>
              </a:rPr>
              <a:t>(</a:t>
            </a:r>
            <a:r>
              <a:rPr lang="fr-FR" sz="1050" dirty="0" err="1">
                <a:solidFill>
                  <a:srgbClr val="0070C0"/>
                </a:solidFill>
                <a:latin typeface="Calibri" panose="020F0502020204030204" pitchFamily="34" charset="0"/>
              </a:rPr>
              <a:t>non_responders</a:t>
            </a:r>
            <a:r>
              <a:rPr lang="fr-FR" sz="1050" dirty="0">
                <a:solidFill>
                  <a:srgbClr val="0070C0"/>
                </a:solidFill>
                <a:latin typeface="Calibri" panose="020F0502020204030204" pitchFamily="34" charset="0"/>
              </a:rPr>
              <a:t>)</a:t>
            </a:r>
          </a:p>
          <a:p>
            <a:endParaRPr lang="en" sz="1050" dirty="0">
              <a:latin typeface="Calibri" panose="020F0502020204030204" pitchFamily="34" charset="0"/>
            </a:endParaRPr>
          </a:p>
          <a:p>
            <a:r>
              <a:rPr lang="en-US" sz="1050" dirty="0">
                <a:latin typeface="Calibri" panose="020F0502020204030204" pitchFamily="34" charset="0"/>
              </a:rPr>
              <a:t># Calculate how many non-responders are needed to maintain the original ratio</a:t>
            </a:r>
          </a:p>
          <a:p>
            <a:r>
              <a:rPr lang="fr-FR" sz="1050" dirty="0" err="1">
                <a:latin typeface="Calibri" panose="020F0502020204030204" pitchFamily="34" charset="0"/>
              </a:rPr>
              <a:t>num_validation_non_responders</a:t>
            </a:r>
            <a:r>
              <a:rPr lang="fr-FR" sz="1050" dirty="0">
                <a:latin typeface="Calibri" panose="020F0502020204030204" pitchFamily="34" charset="0"/>
              </a:rPr>
              <a:t> &lt;- </a:t>
            </a:r>
            <a:r>
              <a:rPr lang="fr-FR" sz="1050" dirty="0" err="1">
                <a:latin typeface="Calibri" panose="020F0502020204030204" pitchFamily="34" charset="0"/>
              </a:rPr>
              <a:t>nrow</a:t>
            </a:r>
            <a:r>
              <a:rPr lang="fr-FR" sz="1050" dirty="0">
                <a:latin typeface="Calibri" panose="020F0502020204030204" pitchFamily="34" charset="0"/>
              </a:rPr>
              <a:t>(</a:t>
            </a:r>
            <a:r>
              <a:rPr lang="fr-FR" sz="1050" dirty="0" err="1">
                <a:latin typeface="Calibri" panose="020F0502020204030204" pitchFamily="34" charset="0"/>
              </a:rPr>
              <a:t>validation_responders</a:t>
            </a:r>
            <a:r>
              <a:rPr lang="fr-FR" sz="1050" dirty="0">
                <a:latin typeface="Calibri" panose="020F0502020204030204" pitchFamily="34" charset="0"/>
              </a:rPr>
              <a:t>) * (</a:t>
            </a:r>
            <a:r>
              <a:rPr lang="fr-FR" sz="1050" dirty="0" err="1">
                <a:latin typeface="Calibri" panose="020F0502020204030204" pitchFamily="34" charset="0"/>
              </a:rPr>
              <a:t>num_non_responders</a:t>
            </a:r>
            <a:r>
              <a:rPr lang="fr-FR" sz="1050" dirty="0">
                <a:latin typeface="Calibri" panose="020F0502020204030204" pitchFamily="34" charset="0"/>
              </a:rPr>
              <a:t> / </a:t>
            </a:r>
            <a:r>
              <a:rPr lang="fr-FR" sz="1050" dirty="0" err="1">
                <a:latin typeface="Calibri" panose="020F0502020204030204" pitchFamily="34" charset="0"/>
              </a:rPr>
              <a:t>num_responders</a:t>
            </a:r>
            <a:r>
              <a:rPr lang="fr-FR" sz="1050" dirty="0">
                <a:latin typeface="Calibri" panose="020F0502020204030204" pitchFamily="34" charset="0"/>
              </a:rPr>
              <a:t>)</a:t>
            </a:r>
          </a:p>
          <a:p>
            <a:endParaRPr lang="en" sz="1050" dirty="0">
              <a:latin typeface="Calibri" panose="020F0502020204030204" pitchFamily="34" charset="0"/>
            </a:endParaRPr>
          </a:p>
          <a:p>
            <a:r>
              <a:rPr lang="en-US" sz="1050" dirty="0">
                <a:latin typeface="Calibri" panose="020F0502020204030204" pitchFamily="34" charset="0"/>
              </a:rPr>
              <a:t># Randomly sample non-responders for validation data to maintain original ratio</a:t>
            </a:r>
          </a:p>
          <a:p>
            <a:r>
              <a:rPr lang="fr-FR" sz="1050" dirty="0" err="1">
                <a:latin typeface="Calibri" panose="020F0502020204030204" pitchFamily="34" charset="0"/>
              </a:rPr>
              <a:t>validation_non_responders</a:t>
            </a:r>
            <a:r>
              <a:rPr lang="fr-FR" sz="1050" dirty="0">
                <a:latin typeface="Calibri" panose="020F0502020204030204" pitchFamily="34" charset="0"/>
              </a:rPr>
              <a:t> &lt;- </a:t>
            </a:r>
            <a:r>
              <a:rPr lang="fr-FR" sz="1050" dirty="0" err="1">
                <a:latin typeface="Calibri" panose="020F0502020204030204" pitchFamily="34" charset="0"/>
              </a:rPr>
              <a:t>non_responders</a:t>
            </a:r>
            <a:r>
              <a:rPr lang="fr-FR" sz="1050" dirty="0">
                <a:latin typeface="Calibri" panose="020F0502020204030204" pitchFamily="34" charset="0"/>
              </a:rPr>
              <a:t>[</a:t>
            </a:r>
            <a:r>
              <a:rPr lang="fr-FR" sz="1050" dirty="0" err="1">
                <a:latin typeface="Calibri" panose="020F0502020204030204" pitchFamily="34" charset="0"/>
              </a:rPr>
              <a:t>sample</a:t>
            </a:r>
            <a:r>
              <a:rPr lang="fr-FR" sz="1050" dirty="0">
                <a:latin typeface="Calibri" panose="020F0502020204030204" pitchFamily="34" charset="0"/>
              </a:rPr>
              <a:t>(1:num_non_responders, size = </a:t>
            </a:r>
            <a:r>
              <a:rPr lang="fr-FR" sz="1050" dirty="0" err="1">
                <a:latin typeface="Calibri" panose="020F0502020204030204" pitchFamily="34" charset="0"/>
              </a:rPr>
              <a:t>num_validation_non_responders</a:t>
            </a:r>
            <a:r>
              <a:rPr lang="fr-FR" sz="1050" dirty="0">
                <a:latin typeface="Calibri" panose="020F0502020204030204" pitchFamily="34" charset="0"/>
              </a:rPr>
              <a:t>), ]</a:t>
            </a:r>
          </a:p>
          <a:p>
            <a:endParaRPr lang="en" sz="1050" dirty="0">
              <a:latin typeface="Calibri" panose="020F0502020204030204" pitchFamily="34" charset="0"/>
            </a:endParaRPr>
          </a:p>
          <a:p>
            <a:r>
              <a:rPr lang="en-US" sz="1050" dirty="0">
                <a:latin typeface="Calibri" panose="020F0502020204030204" pitchFamily="34" charset="0"/>
              </a:rPr>
              <a:t># Combine training data (responders and non-responders)</a:t>
            </a:r>
          </a:p>
          <a:p>
            <a:r>
              <a:rPr lang="fr-FR" sz="1050" dirty="0" err="1">
                <a:latin typeface="Calibri" panose="020F0502020204030204" pitchFamily="34" charset="0"/>
              </a:rPr>
              <a:t>train_data</a:t>
            </a:r>
            <a:r>
              <a:rPr lang="fr-FR" sz="1050" dirty="0">
                <a:latin typeface="Calibri" panose="020F0502020204030204" pitchFamily="34" charset="0"/>
              </a:rPr>
              <a:t> &lt;- </a:t>
            </a:r>
            <a:r>
              <a:rPr lang="fr-FR" sz="1050" dirty="0" err="1">
                <a:latin typeface="Calibri" panose="020F0502020204030204" pitchFamily="34" charset="0"/>
              </a:rPr>
              <a:t>rbind</a:t>
            </a:r>
            <a:r>
              <a:rPr lang="fr-FR" sz="1050" dirty="0">
                <a:latin typeface="Calibri" panose="020F0502020204030204" pitchFamily="34" charset="0"/>
              </a:rPr>
              <a:t>(</a:t>
            </a:r>
            <a:r>
              <a:rPr lang="fr-FR" sz="1050" dirty="0" err="1">
                <a:latin typeface="Calibri" panose="020F0502020204030204" pitchFamily="34" charset="0"/>
              </a:rPr>
              <a:t>train_responders</a:t>
            </a:r>
            <a:r>
              <a:rPr lang="fr-FR" sz="1050" dirty="0">
                <a:latin typeface="Calibri" panose="020F0502020204030204" pitchFamily="34" charset="0"/>
              </a:rPr>
              <a:t>, </a:t>
            </a:r>
            <a:r>
              <a:rPr lang="fr-FR" sz="1050" dirty="0" err="1">
                <a:latin typeface="Calibri" panose="020F0502020204030204" pitchFamily="34" charset="0"/>
              </a:rPr>
              <a:t>train_non_responders</a:t>
            </a:r>
            <a:r>
              <a:rPr lang="fr-FR" sz="1050" dirty="0">
                <a:latin typeface="Calibri" panose="020F0502020204030204" pitchFamily="34" charset="0"/>
              </a:rPr>
              <a:t>)</a:t>
            </a:r>
          </a:p>
          <a:p>
            <a:endParaRPr lang="en" sz="1050" dirty="0">
              <a:latin typeface="Calibri" panose="020F0502020204030204" pitchFamily="34" charset="0"/>
            </a:endParaRPr>
          </a:p>
          <a:p>
            <a:r>
              <a:rPr lang="en-US" sz="1050" dirty="0">
                <a:latin typeface="Calibri" panose="020F0502020204030204" pitchFamily="34" charset="0"/>
              </a:rPr>
              <a:t># Combine validation data (responders and non-responders)</a:t>
            </a:r>
          </a:p>
          <a:p>
            <a:r>
              <a:rPr lang="en-US" sz="1050" dirty="0" err="1">
                <a:latin typeface="Calibri" panose="020F0502020204030204" pitchFamily="34" charset="0"/>
              </a:rPr>
              <a:t>validation_data</a:t>
            </a:r>
            <a:r>
              <a:rPr lang="en-US" sz="1050" dirty="0">
                <a:latin typeface="Calibri" panose="020F0502020204030204" pitchFamily="34" charset="0"/>
              </a:rPr>
              <a:t> &lt;- </a:t>
            </a:r>
            <a:r>
              <a:rPr lang="en-US" sz="1050" dirty="0" err="1">
                <a:latin typeface="Calibri" panose="020F0502020204030204" pitchFamily="34" charset="0"/>
              </a:rPr>
              <a:t>rbind</a:t>
            </a:r>
            <a:r>
              <a:rPr lang="en-US" sz="1050" dirty="0">
                <a:latin typeface="Calibri" panose="020F0502020204030204" pitchFamily="34" charset="0"/>
              </a:rPr>
              <a:t>(</a:t>
            </a:r>
            <a:r>
              <a:rPr lang="en-US" sz="1050" dirty="0" err="1">
                <a:latin typeface="Calibri" panose="020F0502020204030204" pitchFamily="34" charset="0"/>
              </a:rPr>
              <a:t>validation_responders</a:t>
            </a:r>
            <a:r>
              <a:rPr lang="en-US" sz="1050" dirty="0">
                <a:latin typeface="Calibri" panose="020F0502020204030204" pitchFamily="34" charset="0"/>
              </a:rPr>
              <a:t>, </a:t>
            </a:r>
            <a:r>
              <a:rPr lang="en-US" sz="1050" dirty="0" err="1">
                <a:latin typeface="Calibri" panose="020F0502020204030204" pitchFamily="34" charset="0"/>
              </a:rPr>
              <a:t>validation_non_responders</a:t>
            </a:r>
            <a:r>
              <a:rPr lang="en-US" sz="1050" dirty="0">
                <a:latin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50119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477"/>
    </mc:Choice>
    <mc:Fallback xmlns="">
      <p:transition spd="slow" advTm="29477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2">
            <a:extLst>
              <a:ext uri="{FF2B5EF4-FFF2-40B4-BE49-F238E27FC236}">
                <a16:creationId xmlns:a16="http://schemas.microsoft.com/office/drawing/2014/main" id="{FF62BE69-3039-4561-B4DB-BE4F4055E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Measuring Predictive error</a:t>
            </a:r>
          </a:p>
        </p:txBody>
      </p:sp>
      <p:sp>
        <p:nvSpPr>
          <p:cNvPr id="53251" name="Content Placeholder 3">
            <a:extLst>
              <a:ext uri="{FF2B5EF4-FFF2-40B4-BE49-F238E27FC236}">
                <a16:creationId xmlns:a16="http://schemas.microsoft.com/office/drawing/2014/main" id="{63A838A5-4755-49F2-BD15-0E861806BF4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sz="quarter" idx="1"/>
          </p:nvPr>
        </p:nvSpPr>
        <p:spPr>
          <a:xfrm>
            <a:off x="914400" y="1752600"/>
            <a:ext cx="7772400" cy="4267200"/>
          </a:xfrm>
          <a:blipFill rotWithShape="0">
            <a:blip r:embed="rId3"/>
            <a:stretch>
              <a:fillRect l="-784" t="-1286"/>
            </a:stretch>
          </a:blipFill>
        </p:spPr>
        <p:txBody>
          <a:bodyPr/>
          <a:lstStyle/>
          <a:p>
            <a:pPr>
              <a:defRPr/>
            </a:pPr>
            <a:r>
              <a:rPr lang="en-US" dirty="0">
                <a:noFill/>
              </a:rPr>
              <a:t> </a:t>
            </a:r>
          </a:p>
        </p:txBody>
      </p:sp>
      <p:sp>
        <p:nvSpPr>
          <p:cNvPr id="49156" name="TextBox 1">
            <a:extLst>
              <a:ext uri="{FF2B5EF4-FFF2-40B4-BE49-F238E27FC236}">
                <a16:creationId xmlns:a16="http://schemas.microsoft.com/office/drawing/2014/main" id="{3F720305-75AE-443B-A36C-272052102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2098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747"/>
    </mc:Choice>
    <mc:Fallback xmlns="">
      <p:transition spd="slow" advTm="46747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78B4B34F-D337-4D26-876A-D35A1FEE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6200"/>
            <a:ext cx="7924800" cy="1143000"/>
          </a:xfrm>
        </p:spPr>
        <p:txBody>
          <a:bodyPr/>
          <a:lstStyle/>
          <a:p>
            <a:r>
              <a:rPr lang="en-US" altLang="en-US" sz="3600"/>
              <a:t>Some measures of error or accuracy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645F99-EA8F-46C9-887C-863F31E05895}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ph sz="quarter" idx="1"/>
          </p:nvPr>
        </p:nvSpPr>
        <p:spPr>
          <a:blipFill>
            <a:blip r:embed="rId2"/>
            <a:stretch>
              <a:fillRect l="-538" r="-1385"/>
            </a:stretch>
          </a:blipFill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100" dirty="0">
                <a:noFill/>
              </a:rPr>
              <a:t>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637"/>
    </mc:Choice>
    <mc:Fallback xmlns="">
      <p:transition spd="slow" advTm="108637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Overr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quity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  <a:fontScheme name="Equity">
    <a:majorFont>
      <a:latin typeface="Franklin Gothic Book"/>
      <a:ea typeface=""/>
      <a:cs typeface=""/>
      <a:font script="Grek" typeface="Calibri"/>
      <a:font script="Cyrl" typeface="Calibri"/>
      <a:font script="Jpan" typeface="HGｺﾞｼｯｸM"/>
      <a:font script="Hang" typeface="바탕"/>
      <a:font script="Hans" typeface="幼圆"/>
      <a:font script="Hant" typeface="微軟正黑體"/>
      <a:font script="Arab" typeface="Tahoma"/>
      <a:font script="Hebr" typeface="Aharoni"/>
      <a:font script="Thai" typeface="LilyUPC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</a:majorFont>
    <a:minorFont>
      <a:latin typeface="Perpetua"/>
      <a:ea typeface=""/>
      <a:cs typeface=""/>
      <a:font script="Grek" typeface="Cambria"/>
      <a:font script="Cyrl" typeface="Cambria"/>
      <a:font script="Jpan" typeface="HG創英ﾌﾟﾚｾﾞﾝｽEB"/>
      <a:font script="Hang" typeface="맑은 고딕"/>
      <a:font script="Hans" typeface="宋体"/>
      <a:font script="Hant" typeface="新細明體"/>
      <a:font script="Arab" typeface="Times New Roman"/>
      <a:font script="Hebr" typeface="Aharoni"/>
      <a:font script="Thai" typeface="EucrosiaUPC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inorFont>
  </a:fontScheme>
  <a:fmtScheme name="Equity">
    <a:fillStyleLst>
      <a:solidFill>
        <a:schemeClr val="phClr"/>
      </a:solidFill>
      <a:blipFill>
        <a:blip xmlns:r="http://schemas.openxmlformats.org/officeDocument/2006/relationships" r:embed="rId1">
          <a:duotone>
            <a:schemeClr val="phClr">
              <a:tint val="30000"/>
              <a:satMod val="300000"/>
            </a:schemeClr>
            <a:schemeClr val="phClr">
              <a:tint val="40000"/>
              <a:satMod val="200000"/>
            </a:schemeClr>
          </a:duotone>
        </a:blip>
        <a:tile tx="0" ty="0" sx="70000" sy="70000" flip="none" algn="ctr"/>
      </a:blipFill>
      <a:blipFill>
        <a:blip xmlns:r="http://schemas.openxmlformats.org/officeDocument/2006/relationships" r:embed="rId1">
          <a:duotone>
            <a:schemeClr val="phClr">
              <a:shade val="22000"/>
              <a:satMod val="160000"/>
            </a:schemeClr>
            <a:schemeClr val="phClr">
              <a:shade val="45000"/>
              <a:satMod val="100000"/>
            </a:schemeClr>
          </a:duotone>
        </a:blip>
        <a:tile tx="0" ty="0" sx="65000" sy="65000" flip="none" algn="ctr"/>
      </a:blipFill>
    </a:fillStyleLst>
    <a:lnStyleLst>
      <a:ln w="9525" cap="flat" cmpd="sng" algn="ctr">
        <a:solidFill>
          <a:schemeClr val="phClr">
            <a:shade val="60000"/>
            <a:satMod val="110000"/>
          </a:schemeClr>
        </a:solidFill>
        <a:prstDash val="solid"/>
      </a:ln>
      <a:ln w="127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38100" dist="25400" dir="5400000" algn="t" rotWithShape="0">
            <a:srgbClr val="000000">
              <a:alpha val="50000"/>
            </a:srgbClr>
          </a:outerShdw>
        </a:effectLst>
      </a:effectStyle>
      <a:effectStyle>
        <a:effectLst>
          <a:outerShdw blurRad="38100" dist="25400" dir="5400000" algn="t" rotWithShape="0">
            <a:srgbClr val="000000">
              <a:alpha val="50000"/>
            </a:srgbClr>
          </a:outerShdw>
        </a:effectLst>
      </a:effectStyle>
      <a:effectStyle>
        <a:effectLst>
          <a:outerShdw blurRad="50800" dist="50800" dir="5400000" algn="t" rotWithShape="0">
            <a:srgbClr val="000000">
              <a:alpha val="60000"/>
            </a:srgbClr>
          </a:outerShdw>
        </a:effectLst>
        <a:scene3d>
          <a:camera prst="isometricBottomUp" fov="0">
            <a:rot lat="0" lon="0" rev="0"/>
          </a:camera>
          <a:lightRig rig="soft" dir="b">
            <a:rot lat="0" lon="0" rev="9000000"/>
          </a:lightRig>
        </a:scene3d>
        <a:sp3d contourW="35000" prstMaterial="matte">
          <a:bevelT w="45000" h="38100" prst="convex"/>
          <a:contourClr>
            <a:schemeClr val="phClr">
              <a:tint val="10000"/>
              <a:satMod val="130000"/>
            </a:schemeClr>
          </a:contourClr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shade val="40000"/>
              <a:satMod val="165000"/>
            </a:schemeClr>
          </a:gs>
          <a:gs pos="50000">
            <a:schemeClr val="phClr">
              <a:shade val="80000"/>
              <a:satMod val="155000"/>
            </a:schemeClr>
          </a:gs>
          <a:gs pos="100000">
            <a:schemeClr val="phClr">
              <a:tint val="95000"/>
              <a:satMod val="200000"/>
            </a:schemeClr>
          </a:gs>
        </a:gsLst>
        <a:lin ang="16200000" scaled="1"/>
      </a:gradFill>
      <a:blipFill>
        <a:blip xmlns:r="http://schemas.openxmlformats.org/officeDocument/2006/relationships" r:embed="rId1">
          <a:duotone>
            <a:schemeClr val="phClr">
              <a:tint val="95000"/>
              <a:satMod val="200000"/>
            </a:schemeClr>
            <a:schemeClr val="phClr">
              <a:shade val="80000"/>
              <a:satMod val="100000"/>
            </a:schemeClr>
          </a:duotone>
        </a:blip>
        <a:tile tx="0" ty="0" sx="55000" sy="55000" flip="none" algn="tl"/>
      </a:blip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1718</TotalTime>
  <Words>1565</Words>
  <Application>Microsoft Office PowerPoint</Application>
  <PresentationFormat>On-screen Show (4:3)</PresentationFormat>
  <Paragraphs>207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Courier New</vt:lpstr>
      <vt:lpstr>Franklin Gothic Book</vt:lpstr>
      <vt:lpstr>Perpetua</vt:lpstr>
      <vt:lpstr>Wingdings</vt:lpstr>
      <vt:lpstr>Wingdings 2</vt:lpstr>
      <vt:lpstr>Equity</vt:lpstr>
      <vt:lpstr>Modeling and Performance Evaluation</vt:lpstr>
      <vt:lpstr>Supervised Learning</vt:lpstr>
      <vt:lpstr>Supervised: Classification</vt:lpstr>
      <vt:lpstr>Supervised: Prediction</vt:lpstr>
      <vt:lpstr>Steps in Data Mining</vt:lpstr>
      <vt:lpstr>Pre-processing Data</vt:lpstr>
      <vt:lpstr>The Problem of Overfitting</vt:lpstr>
      <vt:lpstr>100% fit – not useful for new data</vt:lpstr>
      <vt:lpstr>Overfitting (cont.)</vt:lpstr>
      <vt:lpstr>Partitioning the Data</vt:lpstr>
      <vt:lpstr>Test Partition </vt:lpstr>
      <vt:lpstr>Why Evaluate?</vt:lpstr>
      <vt:lpstr>Accuracy Measures (Classification)</vt:lpstr>
      <vt:lpstr>Confusion Matrix</vt:lpstr>
      <vt:lpstr>Cutoff for classification</vt:lpstr>
      <vt:lpstr>When One Class is More Important</vt:lpstr>
      <vt:lpstr>Alternate Accuracy Measures</vt:lpstr>
      <vt:lpstr>Alternate Accuracy measures (2)</vt:lpstr>
      <vt:lpstr>ROC Curve </vt:lpstr>
      <vt:lpstr>Oversampling</vt:lpstr>
      <vt:lpstr>Rare Cases</vt:lpstr>
      <vt:lpstr>An Oversampling Procedure</vt:lpstr>
      <vt:lpstr>   Oversampling with R</vt:lpstr>
      <vt:lpstr>Measuring Predictive error</vt:lpstr>
      <vt:lpstr>Some measures of error or accuracy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– Evaluating Classification &amp; Predictive Performance</dc:title>
  <dc:subject>Data Mining for Business Intelligence</dc:subject>
  <dc:creator>Shmueli &amp; Bruce</dc:creator>
  <cp:lastModifiedBy>Imad Bou-Hamad</cp:lastModifiedBy>
  <cp:revision>110</cp:revision>
  <dcterms:created xsi:type="dcterms:W3CDTF">2008-11-30T14:47:48Z</dcterms:created>
  <dcterms:modified xsi:type="dcterms:W3CDTF">2023-10-08T21:00:04Z</dcterms:modified>
</cp:coreProperties>
</file>